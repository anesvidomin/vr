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2829e651-abe7-175e-c84f-d7921978cc89}">
          <p14:sldIdLst>
            <p14:sldId id="256"/>
            <p14:sldId id="257"/>
          </p14:sldIdLst>
        </p14:section>
        <p14:section name="Огляд ресурсів" id="{7b0304be-6c98-a219-b698-854b6ff381d8}">
          <p14:sldIdLst>
            <p14:sldId id="258"/>
          </p14:sldIdLst>
        </p14:section>
        <p14:section name="Аналіз сервісу" id="{88f9da96-c3ca-78c1-eb14-a4b7b1f4f8c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Практика" id="{99983212-e9ca-6531-0f8b-be2d13c087f9}">
          <p14:sldIdLst>
            <p14:sldId id="267"/>
            <p14:sldId id="268"/>
          </p14:sldIdLst>
        </p14:section>
        <p14:section name="Підсумки" id="{d0ed0a0e-85a7-998f-78ea-7b2b9b270660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Вітаю! Тема моєї презентації — інформаційні ресурси на допомогу редакторові. Для детального аналізу я обрав(ла) український сервіс перевірки текстів OnlineCorrector.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теза: сервіс не замінює редактора. Він перерозподіляє робочий час — менше механічної правки, більше уваги до змісту.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корисні редакторові ресурси можна згрупувати у шість напрямів. Сьогодні детально розглянемо перший — перевірку правопису.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Проєкт заснував мовознавець Ілля Данилюк. Ключова особливість — сервіс не окреме вікно, куди треба вставляти текст, а доповнення просто в редакторі, де ви працюєте.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Принципово важливий поділ: перші три модулі правлять текст самі й підсвічують виправлення синім. Три наступні нічого не змінюють — вони лише ставлять коментарі, а рішення ухвалює редактор.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головна методична відмінність сервісу. Там, де норма однозначна, він діє сам. Там, де потрібне рішення людини, — лише ставить коментар.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Встановлення займає кілька хвилин і не потребує реєстрації для базового плану. Якщо працюєте з телефона — доповнення там недоступне.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Сині позначки — дві перші правки, сервіс зробив їх сам. Дві наступні він лише виділив і прокоментував: остаточне рішення ухвалює редактор.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Найцінніше для редактора — четвертий пункт. Сервіс не вдає, що знає все: там, де потрібен контекст, він питає, а не вирішує.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конфіденційність варто пам'ятати окремо: якщо текст службовий або ще не оприлюднений, краще користуватися офлайн-перевіркою.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LanguageTool сильніший у багатомовності, але для українського тексту вужчий. Вбудована перевірка Word працює переважно на рівні орфографії.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Типова помилка — вважати, що після автоперевірки текст готовий. Коректура «людським оком» лишається обов'язковою.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Найчастіша помилка новачка — прийняти всі сині правки не дивлячись. Автоматична правка теж може бути недоречною в конкретному контексті.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Підсумую: сервіс корисний, але відповідальність за текст він не знімає.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потреби додайте сюди джерела, якими ви користувалися додатково.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Дякую за увагу. Готовий(-а)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0574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 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657600"/>
            <a:ext cx="10332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7D3EA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7D3EA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Інформаційні ресурси (на допомогу редакторові)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C7D3EA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rgbClr val="C7D3EA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_1"/>
          <p:cNvSpPr/>
          <p:nvPr/>
        </p:nvSpPr>
        <p:spPr>
          <a:xfrm>
            <a:off x="9326880" y="822960"/>
            <a:ext cx="3291840" cy="3291840"/>
          </a:xfrm>
          <a:prstGeom prst="ellipse">
            <a:avLst/>
          </a:prstGeom>
          <a:solidFill>
            <a:srgbClr val="2F6FB5">
              <a:alpha val="28000"/>
            </a:srgbClr>
          </a:solidFill>
          <a:ln/>
        </p:spPr>
      </p:sp>
      <p:sp>
        <p:nvSpPr>
          <p:cNvPr id="3" name="deco_2"/>
          <p:cNvSpPr/>
          <p:nvPr/>
        </p:nvSpPr>
        <p:spPr>
          <a:xfrm>
            <a:off x="10424160" y="3108960"/>
            <a:ext cx="2011680" cy="2011680"/>
          </a:xfrm>
          <a:prstGeom prst="ellipse">
            <a:avLst/>
          </a:prstGeom>
          <a:solidFill>
            <a:srgbClr val="E58B2B">
              <a:alpha val="30000"/>
            </a:srgbClr>
          </a:solidFill>
          <a:ln/>
        </p:spPr>
      </p:sp>
      <p:sp>
        <p:nvSpPr>
          <p:cNvPr id="4" name="mark_3"/>
          <p:cNvSpPr txBox="1"/>
          <p:nvPr/>
        </p:nvSpPr>
        <p:spPr>
          <a:xfrm>
            <a:off x="914400" y="86868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8000" dirty="0"/>
          </a:p>
        </p:txBody>
      </p:sp>
      <p:sp>
        <p:nvSpPr>
          <p:cNvPr id="5" name="underline_4"/>
          <p:cNvSpPr/>
          <p:nvPr/>
        </p:nvSpPr>
        <p:spPr>
          <a:xfrm>
            <a:off x="960120" y="1920240"/>
            <a:ext cx="713232" cy="0"/>
          </a:xfrm>
          <a:prstGeom prst="line">
            <a:avLst/>
          </a:prstGeom>
          <a:noFill/>
          <a:ln w="50800">
            <a:solidFill>
              <a:srgbClr val="E58B2B"/>
            </a:solidFill>
            <a:prstDash val="sysDash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914400" y="20574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Інформаційні ресурси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(на допомогу редакторові)</a:t>
            </a:r>
            <a:endParaRPr lang="en-US" sz="42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914400" y="365760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58B2B"/>
                </a:solidFill>
              </a:rPr>
              <a:t>Аналіз онлайн-сервісу OnlineCorrector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7D3EA"/>
                </a:solidFill>
              </a:rPr>
              <a:t>Практичне завдання 3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7D3EA"/>
                </a:solidFill>
              </a:rPr>
              <a:t>Виконав(ла): _____________________    Група: 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Навіщо редакторові онлайн-сервіси</a:t>
            </a:r>
            <a:endParaRPr lang="en-US" sz="3200" dirty="0"/>
          </a:p>
        </p:txBody>
      </p:sp>
      <p:sp>
        <p:nvSpPr>
          <p:cNvPr id="3" name="badge_5"/>
          <p:cNvSpPr/>
          <p:nvPr/>
        </p:nvSpPr>
        <p:spPr>
          <a:xfrm>
            <a:off x="548640" y="15453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badgeTxt_6"/>
          <p:cNvSpPr txBox="1"/>
          <p:nvPr/>
        </p:nvSpPr>
        <p:spPr>
          <a:xfrm>
            <a:off x="54864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head_7"/>
          <p:cNvSpPr txBox="1"/>
          <p:nvPr/>
        </p:nvSpPr>
        <p:spPr>
          <a:xfrm>
            <a:off x="1133856" y="1508760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Обсяги зростають, терміни стискаються</a:t>
            </a:r>
            <a:endParaRPr lang="en-US" sz="1500" dirty="0"/>
          </a:p>
        </p:txBody>
      </p:sp>
      <p:sp>
        <p:nvSpPr>
          <p:cNvPr id="6" name="body_8"/>
          <p:cNvSpPr txBox="1"/>
          <p:nvPr/>
        </p:nvSpPr>
        <p:spPr>
          <a:xfrm>
            <a:off x="1133856" y="1819656"/>
            <a:ext cx="5266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Редактор щодня опрацьовує більше тексту, ніж десять років тому.</a:t>
            </a:r>
            <a:endParaRPr lang="en-US" sz="1300" dirty="0"/>
          </a:p>
        </p:txBody>
      </p:sp>
      <p:sp>
        <p:nvSpPr>
          <p:cNvPr id="7" name="badge_9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8" name="badgeTxt_10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head_11"/>
          <p:cNvSpPr txBox="1"/>
          <p:nvPr/>
        </p:nvSpPr>
        <p:spPr>
          <a:xfrm>
            <a:off x="1133856" y="2679192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Рутина з'їдає робочий час</a:t>
            </a:r>
            <a:endParaRPr lang="en-US" sz="1500" dirty="0"/>
          </a:p>
        </p:txBody>
      </p:sp>
      <p:sp>
        <p:nvSpPr>
          <p:cNvPr id="10" name="body_12"/>
          <p:cNvSpPr txBox="1"/>
          <p:nvPr/>
        </p:nvSpPr>
        <p:spPr>
          <a:xfrm>
            <a:off x="1133856" y="2990088"/>
            <a:ext cx="5266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Друкарські помилки, коми й типографіка забирають години.</a:t>
            </a:r>
            <a:endParaRPr lang="en-US" sz="1300" dirty="0"/>
          </a:p>
        </p:txBody>
      </p:sp>
      <p:sp>
        <p:nvSpPr>
          <p:cNvPr id="11" name="badge_13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2" name="badgeTxt_14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head_15"/>
          <p:cNvSpPr txBox="1"/>
          <p:nvPr/>
        </p:nvSpPr>
        <p:spPr>
          <a:xfrm>
            <a:off x="1133856" y="3849624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Машина бере на себе механіку</a:t>
            </a:r>
            <a:endParaRPr lang="en-US" sz="1500" dirty="0"/>
          </a:p>
        </p:txBody>
      </p:sp>
      <p:sp>
        <p:nvSpPr>
          <p:cNvPr id="14" name="body_16"/>
          <p:cNvSpPr txBox="1"/>
          <p:nvPr/>
        </p:nvSpPr>
        <p:spPr>
          <a:xfrm>
            <a:off x="1133856" y="4160520"/>
            <a:ext cx="5266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Автоперевірка звільняє час на зміст, логіку та стиль.</a:t>
            </a:r>
            <a:endParaRPr lang="en-US" sz="1300" dirty="0"/>
          </a:p>
        </p:txBody>
      </p:sp>
      <p:sp>
        <p:nvSpPr>
          <p:cNvPr id="15" name="badge_17"/>
          <p:cNvSpPr/>
          <p:nvPr/>
        </p:nvSpPr>
        <p:spPr>
          <a:xfrm>
            <a:off x="548640" y="5056632"/>
            <a:ext cx="384048" cy="38404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6" name="badgeTxt_18"/>
          <p:cNvSpPr txBox="1"/>
          <p:nvPr/>
        </p:nvSpPr>
        <p:spPr>
          <a:xfrm>
            <a:off x="54864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head_19"/>
          <p:cNvSpPr txBox="1"/>
          <p:nvPr/>
        </p:nvSpPr>
        <p:spPr>
          <a:xfrm>
            <a:off x="1133856" y="5020056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Доступність</a:t>
            </a:r>
            <a:endParaRPr lang="en-US" sz="1500" dirty="0"/>
          </a:p>
        </p:txBody>
      </p:sp>
      <p:sp>
        <p:nvSpPr>
          <p:cNvPr id="18" name="body_20"/>
          <p:cNvSpPr txBox="1"/>
          <p:nvPr/>
        </p:nvSpPr>
        <p:spPr>
          <a:xfrm>
            <a:off x="1133856" y="5330952"/>
            <a:ext cx="5266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Більшість сервісів безкоштовні й працюють просто у браузері.</a:t>
            </a:r>
            <a:endParaRPr lang="en-US" sz="1300" dirty="0"/>
          </a:p>
        </p:txBody>
      </p:sp>
      <p:sp>
        <p:nvSpPr>
          <p:cNvPr id="19" name="beforeCard_21"/>
          <p:cNvSpPr/>
          <p:nvPr/>
        </p:nvSpPr>
        <p:spPr>
          <a:xfrm>
            <a:off x="6858000" y="1508760"/>
            <a:ext cx="4754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0" name="t_22"/>
          <p:cNvSpPr txBox="1"/>
          <p:nvPr/>
        </p:nvSpPr>
        <p:spPr>
          <a:xfrm>
            <a:off x="7132320" y="1691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90"/>
                </a:solidFill>
              </a:rPr>
              <a:t>Без сервісу</a:t>
            </a:r>
            <a:endParaRPr lang="en-US" sz="1300" dirty="0"/>
          </a:p>
        </p:txBody>
      </p:sp>
      <p:sp>
        <p:nvSpPr>
          <p:cNvPr id="21" name="bar_23"/>
          <p:cNvSpPr/>
          <p:nvPr/>
        </p:nvSpPr>
        <p:spPr>
          <a:xfrm>
            <a:off x="7132320" y="2103120"/>
            <a:ext cx="3200400" cy="420624"/>
          </a:xfrm>
          <a:prstGeom prst="rect">
            <a:avLst/>
          </a:prstGeom>
          <a:solidFill>
            <a:srgbClr val="6B7A90"/>
          </a:solidFill>
          <a:ln/>
        </p:spPr>
      </p:sp>
      <p:sp>
        <p:nvSpPr>
          <p:cNvPr id="22" name="t_24"/>
          <p:cNvSpPr txBox="1"/>
          <p:nvPr/>
        </p:nvSpPr>
        <p:spPr>
          <a:xfrm>
            <a:off x="7223760" y="21031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Механічна правка</a:t>
            </a:r>
            <a:endParaRPr lang="en-US" sz="1200" dirty="0"/>
          </a:p>
        </p:txBody>
      </p:sp>
      <p:sp>
        <p:nvSpPr>
          <p:cNvPr id="23" name="bar_25"/>
          <p:cNvSpPr/>
          <p:nvPr/>
        </p:nvSpPr>
        <p:spPr>
          <a:xfrm>
            <a:off x="7132320" y="2615184"/>
            <a:ext cx="1188720" cy="420624"/>
          </a:xfrm>
          <a:prstGeom prst="rect">
            <a:avLst/>
          </a:prstGeom>
          <a:solidFill>
            <a:srgbClr val="2F6FB5"/>
          </a:solidFill>
          <a:ln/>
        </p:spPr>
      </p:sp>
      <p:sp>
        <p:nvSpPr>
          <p:cNvPr id="24" name="t_26"/>
          <p:cNvSpPr txBox="1"/>
          <p:nvPr/>
        </p:nvSpPr>
        <p:spPr>
          <a:xfrm>
            <a:off x="7223760" y="26151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Зміст</a:t>
            </a:r>
            <a:endParaRPr lang="en-US" sz="1200" dirty="0"/>
          </a:p>
        </p:txBody>
      </p:sp>
      <p:sp>
        <p:nvSpPr>
          <p:cNvPr id="25" name="arrow_27"/>
          <p:cNvSpPr/>
          <p:nvPr/>
        </p:nvSpPr>
        <p:spPr>
          <a:xfrm>
            <a:off x="8915400" y="3584448"/>
            <a:ext cx="640080" cy="548640"/>
          </a:xfrm>
          <a:prstGeom prst="downArrow">
            <a:avLst/>
          </a:prstGeom>
          <a:solidFill>
            <a:srgbClr val="E58B2B"/>
          </a:solidFill>
          <a:ln/>
        </p:spPr>
      </p:sp>
      <p:sp>
        <p:nvSpPr>
          <p:cNvPr id="26" name="afterCard_28"/>
          <p:cNvSpPr/>
          <p:nvPr/>
        </p:nvSpPr>
        <p:spPr>
          <a:xfrm>
            <a:off x="6858000" y="4224528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EEF2FA"/>
          </a:solidFill>
          <a:ln/>
        </p:spPr>
      </p:sp>
      <p:sp>
        <p:nvSpPr>
          <p:cNvPr id="27" name="t_29"/>
          <p:cNvSpPr txBox="1"/>
          <p:nvPr/>
        </p:nvSpPr>
        <p:spPr>
          <a:xfrm>
            <a:off x="7132320" y="4407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B5"/>
                </a:solidFill>
              </a:rPr>
              <a:t>Із сервісом</a:t>
            </a:r>
            <a:endParaRPr lang="en-US" sz="1300" dirty="0"/>
          </a:p>
        </p:txBody>
      </p:sp>
      <p:sp>
        <p:nvSpPr>
          <p:cNvPr id="28" name="bar_30"/>
          <p:cNvSpPr/>
          <p:nvPr/>
        </p:nvSpPr>
        <p:spPr>
          <a:xfrm>
            <a:off x="7132320" y="4818888"/>
            <a:ext cx="1188720" cy="420624"/>
          </a:xfrm>
          <a:prstGeom prst="rect">
            <a:avLst/>
          </a:prstGeom>
          <a:solidFill>
            <a:srgbClr val="6B7A90"/>
          </a:solidFill>
          <a:ln/>
        </p:spPr>
      </p:sp>
      <p:sp>
        <p:nvSpPr>
          <p:cNvPr id="29" name="t_31"/>
          <p:cNvSpPr txBox="1"/>
          <p:nvPr/>
        </p:nvSpPr>
        <p:spPr>
          <a:xfrm>
            <a:off x="7205472" y="4818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Механіка</a:t>
            </a:r>
            <a:endParaRPr lang="en-US" sz="1000" dirty="0"/>
          </a:p>
        </p:txBody>
      </p:sp>
      <p:sp>
        <p:nvSpPr>
          <p:cNvPr id="30" name="bar_32"/>
          <p:cNvSpPr/>
          <p:nvPr/>
        </p:nvSpPr>
        <p:spPr>
          <a:xfrm>
            <a:off x="7132320" y="5330952"/>
            <a:ext cx="3200400" cy="420624"/>
          </a:xfrm>
          <a:prstGeom prst="rect">
            <a:avLst/>
          </a:prstGeom>
          <a:solidFill>
            <a:srgbClr val="2F6FB5"/>
          </a:solidFill>
          <a:ln/>
        </p:spPr>
      </p:sp>
      <p:sp>
        <p:nvSpPr>
          <p:cNvPr id="31" name="t_33"/>
          <p:cNvSpPr txBox="1"/>
          <p:nvPr/>
        </p:nvSpPr>
        <p:spPr>
          <a:xfrm>
            <a:off x="7223760" y="53309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Змістове редагування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Карта ресурсів редактора</a:t>
            </a:r>
            <a:endParaRPr lang="en-US" sz="3200" dirty="0"/>
          </a:p>
        </p:txBody>
      </p:sp>
      <p:sp>
        <p:nvSpPr>
          <p:cNvPr id="3" name="group_34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4" name="badge_35"/>
          <p:cNvSpPr/>
          <p:nvPr/>
        </p:nvSpPr>
        <p:spPr>
          <a:xfrm>
            <a:off x="804672" y="1719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badgeTxt_36"/>
          <p:cNvSpPr txBox="1"/>
          <p:nvPr/>
        </p:nvSpPr>
        <p:spPr>
          <a:xfrm>
            <a:off x="8046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37"/>
          <p:cNvSpPr txBox="1"/>
          <p:nvPr/>
        </p:nvSpPr>
        <p:spPr>
          <a:xfrm>
            <a:off x="804672" y="230428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Перевірка правопису</a:t>
            </a:r>
            <a:endParaRPr lang="en-US" sz="1500" dirty="0"/>
          </a:p>
        </p:txBody>
      </p:sp>
      <p:sp>
        <p:nvSpPr>
          <p:cNvPr id="7" name="t_38"/>
          <p:cNvSpPr txBox="1"/>
          <p:nvPr/>
        </p:nvSpPr>
        <p:spPr>
          <a:xfrm>
            <a:off x="80467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Орфографія, пунктуація, стиль</a:t>
            </a:r>
            <a:endParaRPr lang="en-US" sz="1200" dirty="0"/>
          </a:p>
        </p:txBody>
      </p:sp>
      <p:sp>
        <p:nvSpPr>
          <p:cNvPr id="8" name="t_39"/>
          <p:cNvSpPr txBox="1"/>
          <p:nvPr/>
        </p:nvSpPr>
        <p:spPr>
          <a:xfrm>
            <a:off x="804672" y="310896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OnlineCorrector, LanguageTool</a:t>
            </a:r>
            <a:endParaRPr lang="en-US" sz="1200" dirty="0"/>
          </a:p>
        </p:txBody>
      </p:sp>
      <p:sp>
        <p:nvSpPr>
          <p:cNvPr id="9" name="group_40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10" name="badge_41"/>
          <p:cNvSpPr/>
          <p:nvPr/>
        </p:nvSpPr>
        <p:spPr>
          <a:xfrm>
            <a:off x="4553712" y="1719072"/>
            <a:ext cx="457200" cy="45720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1" name="badgeTxt_42"/>
          <p:cNvSpPr txBox="1"/>
          <p:nvPr/>
        </p:nvSpPr>
        <p:spPr>
          <a:xfrm>
            <a:off x="455371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_43"/>
          <p:cNvSpPr txBox="1"/>
          <p:nvPr/>
        </p:nvSpPr>
        <p:spPr>
          <a:xfrm>
            <a:off x="4553712" y="230428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Словники й довідники</a:t>
            </a:r>
            <a:endParaRPr lang="en-US" sz="1500" dirty="0"/>
          </a:p>
        </p:txBody>
      </p:sp>
      <p:sp>
        <p:nvSpPr>
          <p:cNvPr id="13" name="t_44"/>
          <p:cNvSpPr txBox="1"/>
          <p:nvPr/>
        </p:nvSpPr>
        <p:spPr>
          <a:xfrm>
            <a:off x="455371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Значення, наголос, синоніми</a:t>
            </a:r>
            <a:endParaRPr lang="en-US" sz="1200" dirty="0"/>
          </a:p>
        </p:txBody>
      </p:sp>
      <p:sp>
        <p:nvSpPr>
          <p:cNvPr id="14" name="t_45"/>
          <p:cNvSpPr txBox="1"/>
          <p:nvPr/>
        </p:nvSpPr>
        <p:spPr>
          <a:xfrm>
            <a:off x="4553712" y="310896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B5"/>
                </a:solidFill>
              </a:rPr>
              <a:t>СУМ-20, Словники України</a:t>
            </a:r>
            <a:endParaRPr lang="en-US" sz="1200" dirty="0"/>
          </a:p>
        </p:txBody>
      </p:sp>
      <p:sp>
        <p:nvSpPr>
          <p:cNvPr id="15" name="group_46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16" name="badge_47"/>
          <p:cNvSpPr/>
          <p:nvPr/>
        </p:nvSpPr>
        <p:spPr>
          <a:xfrm>
            <a:off x="8302752" y="1719072"/>
            <a:ext cx="457200" cy="457200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7" name="badgeTxt_48"/>
          <p:cNvSpPr txBox="1"/>
          <p:nvPr/>
        </p:nvSpPr>
        <p:spPr>
          <a:xfrm>
            <a:off x="830275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_49"/>
          <p:cNvSpPr txBox="1"/>
          <p:nvPr/>
        </p:nvSpPr>
        <p:spPr>
          <a:xfrm>
            <a:off x="8302752" y="230428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Антиплагіат</a:t>
            </a:r>
            <a:endParaRPr lang="en-US" sz="1500" dirty="0"/>
          </a:p>
        </p:txBody>
      </p:sp>
      <p:sp>
        <p:nvSpPr>
          <p:cNvPr id="19" name="t_50"/>
          <p:cNvSpPr txBox="1"/>
          <p:nvPr/>
        </p:nvSpPr>
        <p:spPr>
          <a:xfrm>
            <a:off x="8302752" y="27432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Унікальність тексту</a:t>
            </a:r>
            <a:endParaRPr lang="en-US" sz="1200" dirty="0"/>
          </a:p>
        </p:txBody>
      </p:sp>
      <p:sp>
        <p:nvSpPr>
          <p:cNvPr id="20" name="t_51"/>
          <p:cNvSpPr txBox="1"/>
          <p:nvPr/>
        </p:nvSpPr>
        <p:spPr>
          <a:xfrm>
            <a:off x="8302752" y="310896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8B2B"/>
                </a:solidFill>
              </a:rPr>
              <a:t>Unicheck, Advego</a:t>
            </a:r>
            <a:endParaRPr lang="en-US" sz="1200" dirty="0"/>
          </a:p>
        </p:txBody>
      </p:sp>
      <p:sp>
        <p:nvSpPr>
          <p:cNvPr id="21" name="group_52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22" name="badge_53"/>
          <p:cNvSpPr/>
          <p:nvPr/>
        </p:nvSpPr>
        <p:spPr>
          <a:xfrm>
            <a:off x="804672" y="4096512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badgeTxt_54"/>
          <p:cNvSpPr txBox="1"/>
          <p:nvPr/>
        </p:nvSpPr>
        <p:spPr>
          <a:xfrm>
            <a:off x="80467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_55"/>
          <p:cNvSpPr txBox="1"/>
          <p:nvPr/>
        </p:nvSpPr>
        <p:spPr>
          <a:xfrm>
            <a:off x="804672" y="46817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Робота з форматами</a:t>
            </a:r>
            <a:endParaRPr lang="en-US" sz="1500" dirty="0"/>
          </a:p>
        </p:txBody>
      </p:sp>
      <p:sp>
        <p:nvSpPr>
          <p:cNvPr id="25" name="t_56"/>
          <p:cNvSpPr txBox="1"/>
          <p:nvPr/>
        </p:nvSpPr>
        <p:spPr>
          <a:xfrm>
            <a:off x="804672" y="5120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PDF, DOCX, розпізнавання</a:t>
            </a:r>
            <a:endParaRPr lang="en-US" sz="1200" dirty="0"/>
          </a:p>
        </p:txBody>
      </p:sp>
      <p:sp>
        <p:nvSpPr>
          <p:cNvPr id="26" name="t_57"/>
          <p:cNvSpPr txBox="1"/>
          <p:nvPr/>
        </p:nvSpPr>
        <p:spPr>
          <a:xfrm>
            <a:off x="804672" y="54864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Smallpdf, ILovePDF</a:t>
            </a:r>
            <a:endParaRPr lang="en-US" sz="1200" dirty="0"/>
          </a:p>
        </p:txBody>
      </p:sp>
      <p:sp>
        <p:nvSpPr>
          <p:cNvPr id="27" name="group_58"/>
          <p:cNvSpPr/>
          <p:nvPr/>
        </p:nvSpPr>
        <p:spPr>
          <a:xfrm>
            <a:off x="429768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28" name="badge_59"/>
          <p:cNvSpPr/>
          <p:nvPr/>
        </p:nvSpPr>
        <p:spPr>
          <a:xfrm>
            <a:off x="4553712" y="409651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badgeTxt_60"/>
          <p:cNvSpPr txBox="1"/>
          <p:nvPr/>
        </p:nvSpPr>
        <p:spPr>
          <a:xfrm>
            <a:off x="45537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_61"/>
          <p:cNvSpPr txBox="1"/>
          <p:nvPr/>
        </p:nvSpPr>
        <p:spPr>
          <a:xfrm>
            <a:off x="4553712" y="46817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Організація роботи</a:t>
            </a:r>
            <a:endParaRPr lang="en-US" sz="1500" dirty="0"/>
          </a:p>
        </p:txBody>
      </p:sp>
      <p:sp>
        <p:nvSpPr>
          <p:cNvPr id="31" name="t_62"/>
          <p:cNvSpPr txBox="1"/>
          <p:nvPr/>
        </p:nvSpPr>
        <p:spPr>
          <a:xfrm>
            <a:off x="4553712" y="5120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Нотатки, завдання, спільна праця</a:t>
            </a:r>
            <a:endParaRPr lang="en-US" sz="1200" dirty="0"/>
          </a:p>
        </p:txBody>
      </p:sp>
      <p:sp>
        <p:nvSpPr>
          <p:cNvPr id="32" name="t_63"/>
          <p:cNvSpPr txBox="1"/>
          <p:nvPr/>
        </p:nvSpPr>
        <p:spPr>
          <a:xfrm>
            <a:off x="4553712" y="54864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Google Docs, Trello, Notion</a:t>
            </a:r>
            <a:endParaRPr lang="en-US" sz="1200" dirty="0"/>
          </a:p>
        </p:txBody>
      </p:sp>
      <p:sp>
        <p:nvSpPr>
          <p:cNvPr id="33" name="group_64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34" name="badge_65"/>
          <p:cNvSpPr/>
          <p:nvPr/>
        </p:nvSpPr>
        <p:spPr>
          <a:xfrm>
            <a:off x="8302752" y="4096512"/>
            <a:ext cx="457200" cy="45720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35" name="badgeTxt_66"/>
          <p:cNvSpPr txBox="1"/>
          <p:nvPr/>
        </p:nvSpPr>
        <p:spPr>
          <a:xfrm>
            <a:off x="830275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_67"/>
          <p:cNvSpPr txBox="1"/>
          <p:nvPr/>
        </p:nvSpPr>
        <p:spPr>
          <a:xfrm>
            <a:off x="8302752" y="46817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Візуалізація</a:t>
            </a:r>
            <a:endParaRPr lang="en-US" sz="1500" dirty="0"/>
          </a:p>
        </p:txBody>
      </p:sp>
      <p:sp>
        <p:nvSpPr>
          <p:cNvPr id="37" name="t_68"/>
          <p:cNvSpPr txBox="1"/>
          <p:nvPr/>
        </p:nvSpPr>
        <p:spPr>
          <a:xfrm>
            <a:off x="8302752" y="5120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Обкладинки, інфографіка</a:t>
            </a:r>
            <a:endParaRPr lang="en-US" sz="1200" dirty="0"/>
          </a:p>
        </p:txBody>
      </p:sp>
      <p:sp>
        <p:nvSpPr>
          <p:cNvPr id="38" name="t_69"/>
          <p:cNvSpPr txBox="1"/>
          <p:nvPr/>
        </p:nvSpPr>
        <p:spPr>
          <a:xfrm>
            <a:off x="8302752" y="54864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B5"/>
                </a:solidFill>
              </a:rPr>
              <a:t>Canva, Figma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OnlineCorrector: візитівка сервісу</a:t>
            </a:r>
            <a:endParaRPr lang="en-US" sz="3200" dirty="0"/>
          </a:p>
        </p:txBody>
      </p:sp>
      <p:sp>
        <p:nvSpPr>
          <p:cNvPr id="3" name="hero_70"/>
          <p:cNvSpPr/>
          <p:nvPr/>
        </p:nvSpPr>
        <p:spPr>
          <a:xfrm>
            <a:off x="548640" y="1463040"/>
            <a:ext cx="4206240" cy="46634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4" name="logo_71"/>
          <p:cNvSpPr/>
          <p:nvPr/>
        </p:nvSpPr>
        <p:spPr>
          <a:xfrm>
            <a:off x="960120" y="18288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E58B2B"/>
          </a:solidFill>
          <a:ln/>
        </p:spPr>
      </p:sp>
      <p:sp>
        <p:nvSpPr>
          <p:cNvPr id="5" name="t_72"/>
          <p:cNvSpPr txBox="1"/>
          <p:nvPr/>
        </p:nvSpPr>
        <p:spPr>
          <a:xfrm>
            <a:off x="96012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OC</a:t>
            </a:r>
            <a:endParaRPr lang="en-US" sz="3400" dirty="0"/>
          </a:p>
        </p:txBody>
      </p:sp>
      <p:sp>
        <p:nvSpPr>
          <p:cNvPr id="6" name="t_73"/>
          <p:cNvSpPr txBox="1"/>
          <p:nvPr/>
        </p:nvSpPr>
        <p:spPr>
          <a:xfrm>
            <a:off x="96012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OnlineCorrector</a:t>
            </a:r>
            <a:endParaRPr lang="en-US" sz="2400" dirty="0"/>
          </a:p>
        </p:txBody>
      </p:sp>
      <p:sp>
        <p:nvSpPr>
          <p:cNvPr id="7" name="t_74"/>
          <p:cNvSpPr txBox="1"/>
          <p:nvPr/>
        </p:nvSpPr>
        <p:spPr>
          <a:xfrm>
            <a:off x="96012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8B2B"/>
                </a:solidFill>
              </a:rPr>
              <a:t>onlinecorrector.com.ua</a:t>
            </a:r>
            <a:endParaRPr lang="en-US" sz="1400" dirty="0"/>
          </a:p>
        </p:txBody>
      </p:sp>
      <p:sp>
        <p:nvSpPr>
          <p:cNvPr id="8" name="t_75"/>
          <p:cNvSpPr txBox="1"/>
          <p:nvPr/>
        </p:nvSpPr>
        <p:spPr>
          <a:xfrm>
            <a:off x="960120" y="4069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3EA"/>
                </a:solidFill>
              </a:rPr>
              <a:t>Доповнення, яке шукає й виправляє помилки просто в тексті, який ви зараз пишете.</a:t>
            </a:r>
            <a:endParaRPr lang="en-US" sz="1400" dirty="0"/>
          </a:p>
        </p:txBody>
      </p:sp>
      <p:sp>
        <p:nvSpPr>
          <p:cNvPr id="9" name="fact_76"/>
          <p:cNvSpPr/>
          <p:nvPr/>
        </p:nvSpPr>
        <p:spPr>
          <a:xfrm>
            <a:off x="5074920" y="146304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10" name="t_77"/>
          <p:cNvSpPr txBox="1"/>
          <p:nvPr/>
        </p:nvSpPr>
        <p:spPr>
          <a:xfrm>
            <a:off x="5330952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Де працює</a:t>
            </a:r>
            <a:endParaRPr lang="en-US" sz="1400" dirty="0"/>
          </a:p>
        </p:txBody>
      </p:sp>
      <p:sp>
        <p:nvSpPr>
          <p:cNvPr id="11" name="t_78"/>
          <p:cNvSpPr txBox="1"/>
          <p:nvPr/>
        </p:nvSpPr>
        <p:spPr>
          <a:xfrm>
            <a:off x="5330952" y="217627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Доповнення для Google Документів і Microsoft Word — текст не треба нікуди копіювати</a:t>
            </a:r>
            <a:endParaRPr lang="en-US" sz="1400" dirty="0"/>
          </a:p>
        </p:txBody>
      </p:sp>
      <p:sp>
        <p:nvSpPr>
          <p:cNvPr id="12" name="fact_79"/>
          <p:cNvSpPr/>
          <p:nvPr/>
        </p:nvSpPr>
        <p:spPr>
          <a:xfrm>
            <a:off x="8595360" y="146304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13" name="t_80"/>
          <p:cNvSpPr txBox="1"/>
          <p:nvPr/>
        </p:nvSpPr>
        <p:spPr>
          <a:xfrm>
            <a:off x="8851392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Що перевіряє</a:t>
            </a:r>
            <a:endParaRPr lang="en-US" sz="1400" dirty="0"/>
          </a:p>
        </p:txBody>
      </p:sp>
      <p:sp>
        <p:nvSpPr>
          <p:cNvPr id="14" name="t_81"/>
          <p:cNvSpPr txBox="1"/>
          <p:nvPr/>
        </p:nvSpPr>
        <p:spPr>
          <a:xfrm>
            <a:off x="8851392" y="217627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Орфографія, пунктуація, граматика, лексика, стиль і типографіка — сім окремих модулів</a:t>
            </a:r>
            <a:endParaRPr lang="en-US" sz="1400" dirty="0"/>
          </a:p>
        </p:txBody>
      </p:sp>
      <p:sp>
        <p:nvSpPr>
          <p:cNvPr id="15" name="fact_82"/>
          <p:cNvSpPr/>
          <p:nvPr/>
        </p:nvSpPr>
        <p:spPr>
          <a:xfrm>
            <a:off x="5074920" y="384048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16" name="t_83"/>
          <p:cNvSpPr txBox="1"/>
          <p:nvPr/>
        </p:nvSpPr>
        <p:spPr>
          <a:xfrm>
            <a:off x="5330952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Мовна база</a:t>
            </a:r>
            <a:endParaRPr lang="en-US" sz="1400" dirty="0"/>
          </a:p>
        </p:txBody>
      </p:sp>
      <p:sp>
        <p:nvSpPr>
          <p:cNvPr id="17" name="t_84"/>
          <p:cNvSpPr txBox="1"/>
          <p:nvPr/>
        </p:nvSpPr>
        <p:spPr>
          <a:xfrm>
            <a:off x="5330952" y="455371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Враховує чинний Український правопис 2019 року</a:t>
            </a:r>
            <a:endParaRPr lang="en-US" sz="1400" dirty="0"/>
          </a:p>
        </p:txBody>
      </p:sp>
      <p:sp>
        <p:nvSpPr>
          <p:cNvPr id="18" name="fact_85"/>
          <p:cNvSpPr/>
          <p:nvPr/>
        </p:nvSpPr>
        <p:spPr>
          <a:xfrm>
            <a:off x="8595360" y="384048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EF2FA"/>
          </a:solidFill>
          <a:ln/>
        </p:spPr>
      </p:sp>
      <p:sp>
        <p:nvSpPr>
          <p:cNvPr id="19" name="t_86"/>
          <p:cNvSpPr txBox="1"/>
          <p:nvPr/>
        </p:nvSpPr>
        <p:spPr>
          <a:xfrm>
            <a:off x="8851392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Доступ</a:t>
            </a:r>
            <a:endParaRPr lang="en-US" sz="1400" dirty="0"/>
          </a:p>
        </p:txBody>
      </p:sp>
      <p:sp>
        <p:nvSpPr>
          <p:cNvPr id="20" name="t_87"/>
          <p:cNvSpPr txBox="1"/>
          <p:nvPr/>
        </p:nvSpPr>
        <p:spPr>
          <a:xfrm>
            <a:off x="8851392" y="455371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Безкоштовний план «Базова» з обмеженим набором правил; розширений — за передплатою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Сім модулів сервісу</a:t>
            </a:r>
            <a:endParaRPr lang="en-US" sz="3200" dirty="0"/>
          </a:p>
        </p:txBody>
      </p:sp>
      <p:sp>
        <p:nvSpPr>
          <p:cNvPr id="3" name="t_88"/>
          <p:cNvSpPr txBox="1"/>
          <p:nvPr/>
        </p:nvSpPr>
        <p:spPr>
          <a:xfrm>
            <a:off x="548640" y="1371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6FB5"/>
                </a:solidFill>
              </a:rPr>
              <a:t>Виправляють автоматично</a:t>
            </a:r>
            <a:endParaRPr lang="en-US" sz="1400" dirty="0"/>
          </a:p>
        </p:txBody>
      </p:sp>
      <p:sp>
        <p:nvSpPr>
          <p:cNvPr id="4" name="t_89"/>
          <p:cNvSpPr txBox="1"/>
          <p:nvPr/>
        </p:nvSpPr>
        <p:spPr>
          <a:xfrm>
            <a:off x="6355080" y="13716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58B2B"/>
                </a:solidFill>
              </a:rPr>
              <a:t>Підказують і коментують</a:t>
            </a:r>
            <a:endParaRPr lang="en-US" sz="1400" dirty="0"/>
          </a:p>
        </p:txBody>
      </p:sp>
      <p:sp>
        <p:nvSpPr>
          <p:cNvPr id="5" name="mod_90"/>
          <p:cNvSpPr/>
          <p:nvPr/>
        </p:nvSpPr>
        <p:spPr>
          <a:xfrm>
            <a:off x="548640" y="1783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A"/>
          </a:solidFill>
          <a:ln/>
        </p:spPr>
      </p:sp>
      <p:sp>
        <p:nvSpPr>
          <p:cNvPr id="6" name="badge_91"/>
          <p:cNvSpPr/>
          <p:nvPr/>
        </p:nvSpPr>
        <p:spPr>
          <a:xfrm>
            <a:off x="804672" y="2057400"/>
            <a:ext cx="502920" cy="50292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7" name="badgeTxt_92"/>
          <p:cNvSpPr txBox="1"/>
          <p:nvPr/>
        </p:nvSpPr>
        <p:spPr>
          <a:xfrm>
            <a:off x="80467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_93"/>
          <p:cNvSpPr txBox="1"/>
          <p:nvPr/>
        </p:nvSpPr>
        <p:spPr>
          <a:xfrm>
            <a:off x="1444752" y="19659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Типографіка</a:t>
            </a:r>
            <a:endParaRPr lang="en-US" sz="1500" dirty="0"/>
          </a:p>
        </p:txBody>
      </p:sp>
      <p:sp>
        <p:nvSpPr>
          <p:cNvPr id="9" name="t_94"/>
          <p:cNvSpPr txBox="1"/>
          <p:nvPr/>
        </p:nvSpPr>
        <p:spPr>
          <a:xfrm>
            <a:off x="1444752" y="23134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Правильні знаки: тире, лапки, апостроф, пробіли</a:t>
            </a:r>
            <a:endParaRPr lang="en-US" sz="1200" dirty="0"/>
          </a:p>
        </p:txBody>
      </p:sp>
      <p:sp>
        <p:nvSpPr>
          <p:cNvPr id="10" name="mod_95"/>
          <p:cNvSpPr/>
          <p:nvPr/>
        </p:nvSpPr>
        <p:spPr>
          <a:xfrm>
            <a:off x="548640" y="29718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A"/>
          </a:solidFill>
          <a:ln/>
        </p:spPr>
      </p:sp>
      <p:sp>
        <p:nvSpPr>
          <p:cNvPr id="11" name="badge_96"/>
          <p:cNvSpPr/>
          <p:nvPr/>
        </p:nvSpPr>
        <p:spPr>
          <a:xfrm>
            <a:off x="804672" y="3246120"/>
            <a:ext cx="502920" cy="50292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2" name="badgeTxt_97"/>
          <p:cNvSpPr txBox="1"/>
          <p:nvPr/>
        </p:nvSpPr>
        <p:spPr>
          <a:xfrm>
            <a:off x="804672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_98"/>
          <p:cNvSpPr txBox="1"/>
          <p:nvPr/>
        </p:nvSpPr>
        <p:spPr>
          <a:xfrm>
            <a:off x="1444752" y="31546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Чергування</a:t>
            </a:r>
            <a:endParaRPr lang="en-US" sz="1500" dirty="0"/>
          </a:p>
        </p:txBody>
      </p:sp>
      <p:sp>
        <p:nvSpPr>
          <p:cNvPr id="14" name="t_99"/>
          <p:cNvSpPr txBox="1"/>
          <p:nvPr/>
        </p:nvSpPr>
        <p:spPr>
          <a:xfrm>
            <a:off x="1444752" y="35021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Сполучники і/й, прийменники у/в, з/із/зі/зо</a:t>
            </a:r>
            <a:endParaRPr lang="en-US" sz="1200" dirty="0"/>
          </a:p>
        </p:txBody>
      </p:sp>
      <p:sp>
        <p:nvSpPr>
          <p:cNvPr id="15" name="mod_100"/>
          <p:cNvSpPr/>
          <p:nvPr/>
        </p:nvSpPr>
        <p:spPr>
          <a:xfrm>
            <a:off x="548640" y="41605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A"/>
          </a:solidFill>
          <a:ln/>
        </p:spPr>
      </p:sp>
      <p:sp>
        <p:nvSpPr>
          <p:cNvPr id="16" name="badge_101"/>
          <p:cNvSpPr/>
          <p:nvPr/>
        </p:nvSpPr>
        <p:spPr>
          <a:xfrm>
            <a:off x="804672" y="4434840"/>
            <a:ext cx="502920" cy="50292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7" name="badgeTxt_102"/>
          <p:cNvSpPr txBox="1"/>
          <p:nvPr/>
        </p:nvSpPr>
        <p:spPr>
          <a:xfrm>
            <a:off x="804672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_103"/>
          <p:cNvSpPr txBox="1"/>
          <p:nvPr/>
        </p:nvSpPr>
        <p:spPr>
          <a:xfrm>
            <a:off x="1444752" y="43434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Часті помилки</a:t>
            </a:r>
            <a:endParaRPr lang="en-US" sz="1500" dirty="0"/>
          </a:p>
        </p:txBody>
      </p:sp>
      <p:sp>
        <p:nvSpPr>
          <p:cNvPr id="19" name="t_104"/>
          <p:cNvSpPr txBox="1"/>
          <p:nvPr/>
        </p:nvSpPr>
        <p:spPr>
          <a:xfrm>
            <a:off x="1444752" y="46908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Типові хиби, зокрема після машинного перекладу</a:t>
            </a:r>
            <a:endParaRPr lang="en-US" sz="1200" dirty="0"/>
          </a:p>
        </p:txBody>
      </p:sp>
      <p:sp>
        <p:nvSpPr>
          <p:cNvPr id="20" name="mod_105"/>
          <p:cNvSpPr/>
          <p:nvPr/>
        </p:nvSpPr>
        <p:spPr>
          <a:xfrm>
            <a:off x="6355080" y="17830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DF3E7"/>
          </a:solidFill>
          <a:ln/>
        </p:spPr>
      </p:sp>
      <p:sp>
        <p:nvSpPr>
          <p:cNvPr id="21" name="badge_106"/>
          <p:cNvSpPr/>
          <p:nvPr/>
        </p:nvSpPr>
        <p:spPr>
          <a:xfrm>
            <a:off x="6611112" y="2057400"/>
            <a:ext cx="502920" cy="502920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22" name="badgeTxt_107"/>
          <p:cNvSpPr txBox="1"/>
          <p:nvPr/>
        </p:nvSpPr>
        <p:spPr>
          <a:xfrm>
            <a:off x="661111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_108"/>
          <p:cNvSpPr txBox="1"/>
          <p:nvPr/>
        </p:nvSpPr>
        <p:spPr>
          <a:xfrm>
            <a:off x="7251192" y="1965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Граматика</a:t>
            </a:r>
            <a:endParaRPr lang="en-US" sz="1500" dirty="0"/>
          </a:p>
        </p:txBody>
      </p:sp>
      <p:sp>
        <p:nvSpPr>
          <p:cNvPr id="24" name="t_109"/>
          <p:cNvSpPr txBox="1"/>
          <p:nvPr/>
        </p:nvSpPr>
        <p:spPr>
          <a:xfrm>
            <a:off x="7251192" y="23134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Узгодження слів: «цій великої угоди» → «цієї великої угоди»</a:t>
            </a:r>
            <a:endParaRPr lang="en-US" sz="1200" dirty="0"/>
          </a:p>
        </p:txBody>
      </p:sp>
      <p:sp>
        <p:nvSpPr>
          <p:cNvPr id="25" name="mod_110"/>
          <p:cNvSpPr/>
          <p:nvPr/>
        </p:nvSpPr>
        <p:spPr>
          <a:xfrm>
            <a:off x="6355080" y="29718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DF3E7"/>
          </a:solidFill>
          <a:ln/>
        </p:spPr>
      </p:sp>
      <p:sp>
        <p:nvSpPr>
          <p:cNvPr id="26" name="badge_111"/>
          <p:cNvSpPr/>
          <p:nvPr/>
        </p:nvSpPr>
        <p:spPr>
          <a:xfrm>
            <a:off x="6611112" y="3246120"/>
            <a:ext cx="502920" cy="502920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27" name="badgeTxt_112"/>
          <p:cNvSpPr txBox="1"/>
          <p:nvPr/>
        </p:nvSpPr>
        <p:spPr>
          <a:xfrm>
            <a:off x="6611112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_113"/>
          <p:cNvSpPr txBox="1"/>
          <p:nvPr/>
        </p:nvSpPr>
        <p:spPr>
          <a:xfrm>
            <a:off x="7251192" y="31546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Пунктуація</a:t>
            </a:r>
            <a:endParaRPr lang="en-US" sz="1500" dirty="0"/>
          </a:p>
        </p:txBody>
      </p:sp>
      <p:sp>
        <p:nvSpPr>
          <p:cNvPr id="29" name="t_114"/>
          <p:cNvSpPr txBox="1"/>
          <p:nvPr/>
        </p:nvSpPr>
        <p:spPr>
          <a:xfrm>
            <a:off x="7251192" y="3502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Ймовірні пропущені або зайві розділові знаки</a:t>
            </a:r>
            <a:endParaRPr lang="en-US" sz="1200" dirty="0"/>
          </a:p>
        </p:txBody>
      </p:sp>
      <p:sp>
        <p:nvSpPr>
          <p:cNvPr id="30" name="mod_115"/>
          <p:cNvSpPr/>
          <p:nvPr/>
        </p:nvSpPr>
        <p:spPr>
          <a:xfrm>
            <a:off x="6355080" y="4160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DF3E7"/>
          </a:solidFill>
          <a:ln/>
        </p:spPr>
      </p:sp>
      <p:sp>
        <p:nvSpPr>
          <p:cNvPr id="31" name="badge_116"/>
          <p:cNvSpPr/>
          <p:nvPr/>
        </p:nvSpPr>
        <p:spPr>
          <a:xfrm>
            <a:off x="6611112" y="4434840"/>
            <a:ext cx="502920" cy="502920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32" name="badgeTxt_117"/>
          <p:cNvSpPr txBox="1"/>
          <p:nvPr/>
        </p:nvSpPr>
        <p:spPr>
          <a:xfrm>
            <a:off x="6611112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_118"/>
          <p:cNvSpPr txBox="1"/>
          <p:nvPr/>
        </p:nvSpPr>
        <p:spPr>
          <a:xfrm>
            <a:off x="7251192" y="4343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Лексика та стиль</a:t>
            </a:r>
            <a:endParaRPr lang="en-US" sz="1500" dirty="0"/>
          </a:p>
        </p:txBody>
      </p:sp>
      <p:sp>
        <p:nvSpPr>
          <p:cNvPr id="34" name="t_119"/>
          <p:cNvSpPr txBox="1"/>
          <p:nvPr/>
        </p:nvSpPr>
        <p:spPr>
          <a:xfrm>
            <a:off x="7251192" y="46908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Слововживання, кальки, стилістичні огріхи</a:t>
            </a:r>
            <a:endParaRPr lang="en-US" sz="1200" dirty="0"/>
          </a:p>
        </p:txBody>
      </p:sp>
      <p:sp>
        <p:nvSpPr>
          <p:cNvPr id="35" name="mod7_120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36" name="badge_121"/>
          <p:cNvSpPr/>
          <p:nvPr/>
        </p:nvSpPr>
        <p:spPr>
          <a:xfrm>
            <a:off x="822960" y="5513832"/>
            <a:ext cx="502920" cy="502920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37" name="badgeTxt_122"/>
          <p:cNvSpPr txBox="1"/>
          <p:nvPr/>
        </p:nvSpPr>
        <p:spPr>
          <a:xfrm>
            <a:off x="822960" y="5513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_123"/>
          <p:cNvSpPr txBox="1"/>
          <p:nvPr/>
        </p:nvSpPr>
        <p:spPr>
          <a:xfrm>
            <a:off x="1463040" y="5349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Правопис 2019   </a:t>
            </a:r>
            <a:pPr indent="0" marL="0">
              <a:buNone/>
            </a:pPr>
            <a:r>
              <a:rPr lang="en-US" sz="1400" dirty="0">
                <a:solidFill>
                  <a:srgbClr val="C7D3EA"/>
                </a:solidFill>
              </a:rPr>
              <a:t>— окремий модуль, що приводить текст у відповідність до чинної редакції Українського правопису.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Два режими роботи — і чому це важливо</a:t>
            </a:r>
            <a:endParaRPr lang="en-US" sz="3200" dirty="0"/>
          </a:p>
        </p:txBody>
      </p:sp>
      <p:sp>
        <p:nvSpPr>
          <p:cNvPr id="3" name="modeA_124"/>
          <p:cNvSpPr/>
          <p:nvPr/>
        </p:nvSpPr>
        <p:spPr>
          <a:xfrm>
            <a:off x="54864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EF2FA"/>
          </a:solidFill>
          <a:ln/>
        </p:spPr>
      </p:sp>
      <p:sp>
        <p:nvSpPr>
          <p:cNvPr id="4" name="badge_12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5" name="badgeTxt_126"/>
          <p:cNvSpPr txBox="1"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127"/>
          <p:cNvSpPr txBox="1"/>
          <p:nvPr/>
        </p:nvSpPr>
        <p:spPr>
          <a:xfrm>
            <a:off x="155448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B5"/>
                </a:solidFill>
              </a:rPr>
              <a:t>Виправляє сам</a:t>
            </a:r>
            <a:endParaRPr lang="en-US" sz="2000" dirty="0"/>
          </a:p>
        </p:txBody>
      </p:sp>
      <p:sp>
        <p:nvSpPr>
          <p:cNvPr id="7" name="t_128"/>
          <p:cNvSpPr txBox="1"/>
          <p:nvPr/>
        </p:nvSpPr>
        <p:spPr>
          <a:xfrm>
            <a:off x="868680" y="25146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90"/>
                </a:solidFill>
              </a:rPr>
              <a:t>Текст змінюється автоматично, а виправлення підсвічуються синім кольором.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6213E"/>
                </a:solidFill>
              </a:rPr>
              <a:t>Модулі: типографіка, чергування, часті помилки.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90"/>
                </a:solidFill>
              </a:rPr>
              <a:t>Редакторові лишається переглянути сині фрагменти й переконатися, що правка доречна.</a:t>
            </a:r>
            <a:endParaRPr lang="en-US" sz="1400" dirty="0"/>
          </a:p>
        </p:txBody>
      </p:sp>
      <p:sp>
        <p:nvSpPr>
          <p:cNvPr id="8" name="modeB_129"/>
          <p:cNvSpPr/>
          <p:nvPr/>
        </p:nvSpPr>
        <p:spPr>
          <a:xfrm>
            <a:off x="6355080" y="14630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DF3E7"/>
          </a:solidFill>
          <a:ln/>
        </p:spPr>
      </p:sp>
      <p:sp>
        <p:nvSpPr>
          <p:cNvPr id="9" name="badge_130"/>
          <p:cNvSpPr/>
          <p:nvPr/>
        </p:nvSpPr>
        <p:spPr>
          <a:xfrm>
            <a:off x="6675120" y="1783080"/>
            <a:ext cx="548640" cy="548640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0" name="badgeTxt_131"/>
          <p:cNvSpPr txBox="1"/>
          <p:nvPr/>
        </p:nvSpPr>
        <p:spPr>
          <a:xfrm>
            <a:off x="66751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_132"/>
          <p:cNvSpPr txBox="1"/>
          <p:nvPr/>
        </p:nvSpPr>
        <p:spPr>
          <a:xfrm>
            <a:off x="736092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8B2B"/>
                </a:solidFill>
              </a:rPr>
              <a:t>Радить і коментує</a:t>
            </a:r>
            <a:endParaRPr lang="en-US" sz="2000" dirty="0"/>
          </a:p>
        </p:txBody>
      </p:sp>
      <p:sp>
        <p:nvSpPr>
          <p:cNvPr id="12" name="t_133"/>
          <p:cNvSpPr txBox="1"/>
          <p:nvPr/>
        </p:nvSpPr>
        <p:spPr>
          <a:xfrm>
            <a:off x="6675120" y="25146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90"/>
                </a:solidFill>
              </a:rPr>
              <a:t>Сумнівні місця сервіс не чіпає — він виділяє їх і залишає коментар.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6213E"/>
                </a:solidFill>
              </a:rPr>
              <a:t>Модулі: граматика, пунктуація, лексика та стиль.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90"/>
                </a:solidFill>
              </a:rPr>
              <a:t>Останнє слово завжди за людиною: сервіс пояснює підозру, а не нав'язує рішення.</a:t>
            </a:r>
            <a:endParaRPr lang="en-US" sz="1400" dirty="0"/>
          </a:p>
        </p:txBody>
      </p:sp>
      <p:sp>
        <p:nvSpPr>
          <p:cNvPr id="13" name="callout_134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4" name="t_135"/>
          <p:cNvSpPr txBox="1"/>
          <p:nvPr/>
        </p:nvSpPr>
        <p:spPr>
          <a:xfrm>
            <a:off x="868680" y="55778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Саме другий режим робить сервіс інструментом редактора, а не «автовиправлялкою».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Як підключити й почати працювати</a:t>
            </a:r>
            <a:endParaRPr lang="en-US" sz="3200" dirty="0"/>
          </a:p>
        </p:txBody>
      </p:sp>
      <p:sp>
        <p:nvSpPr>
          <p:cNvPr id="3" name="step_136"/>
          <p:cNvSpPr/>
          <p:nvPr/>
        </p:nvSpPr>
        <p:spPr>
          <a:xfrm>
            <a:off x="548640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4" name="badge_137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badgeTxt_138"/>
          <p:cNvSpPr txBox="1"/>
          <p:nvPr/>
        </p:nvSpPr>
        <p:spPr>
          <a:xfrm>
            <a:off x="80467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139"/>
          <p:cNvSpPr txBox="1"/>
          <p:nvPr/>
        </p:nvSpPr>
        <p:spPr>
          <a:xfrm>
            <a:off x="804672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Встановити доповнення</a:t>
            </a:r>
            <a:endParaRPr lang="en-US" sz="1500" dirty="0"/>
          </a:p>
        </p:txBody>
      </p:sp>
      <p:sp>
        <p:nvSpPr>
          <p:cNvPr id="7" name="t_140"/>
          <p:cNvSpPr txBox="1"/>
          <p:nvPr/>
        </p:nvSpPr>
        <p:spPr>
          <a:xfrm>
            <a:off x="804672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Google Workspace Marketplace → OnlineCorrector. Для Word — окреме доповнення.</a:t>
            </a:r>
            <a:endParaRPr lang="en-US" sz="1200" dirty="0"/>
          </a:p>
        </p:txBody>
      </p:sp>
      <p:sp>
        <p:nvSpPr>
          <p:cNvPr id="8" name="arrow_141"/>
          <p:cNvSpPr/>
          <p:nvPr/>
        </p:nvSpPr>
        <p:spPr>
          <a:xfrm>
            <a:off x="3200400" y="2926080"/>
            <a:ext cx="137160" cy="237744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9" name="step_142"/>
          <p:cNvSpPr/>
          <p:nvPr/>
        </p:nvSpPr>
        <p:spPr>
          <a:xfrm>
            <a:off x="3364992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0" name="badge_143"/>
          <p:cNvSpPr/>
          <p:nvPr/>
        </p:nvSpPr>
        <p:spPr>
          <a:xfrm>
            <a:off x="3621024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badgeTxt_144"/>
          <p:cNvSpPr txBox="1"/>
          <p:nvPr/>
        </p:nvSpPr>
        <p:spPr>
          <a:xfrm>
            <a:off x="3621024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_145"/>
          <p:cNvSpPr txBox="1"/>
          <p:nvPr/>
        </p:nvSpPr>
        <p:spPr>
          <a:xfrm>
            <a:off x="3621024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Відкрити документ</a:t>
            </a:r>
            <a:endParaRPr lang="en-US" sz="1500" dirty="0"/>
          </a:p>
        </p:txBody>
      </p:sp>
      <p:sp>
        <p:nvSpPr>
          <p:cNvPr id="13" name="t_146"/>
          <p:cNvSpPr txBox="1"/>
          <p:nvPr/>
        </p:nvSpPr>
        <p:spPr>
          <a:xfrm>
            <a:off x="3621024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Меню «Розширення» → OnlineCorrector → запустити бічну панель.</a:t>
            </a:r>
            <a:endParaRPr lang="en-US" sz="1200" dirty="0"/>
          </a:p>
        </p:txBody>
      </p:sp>
      <p:sp>
        <p:nvSpPr>
          <p:cNvPr id="14" name="arrow_147"/>
          <p:cNvSpPr/>
          <p:nvPr/>
        </p:nvSpPr>
        <p:spPr>
          <a:xfrm>
            <a:off x="6016752" y="2926080"/>
            <a:ext cx="137160" cy="237744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5" name="step_148"/>
          <p:cNvSpPr/>
          <p:nvPr/>
        </p:nvSpPr>
        <p:spPr>
          <a:xfrm>
            <a:off x="6181344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6" name="badge_149"/>
          <p:cNvSpPr/>
          <p:nvPr/>
        </p:nvSpPr>
        <p:spPr>
          <a:xfrm>
            <a:off x="6437376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badgeTxt_150"/>
          <p:cNvSpPr txBox="1"/>
          <p:nvPr/>
        </p:nvSpPr>
        <p:spPr>
          <a:xfrm>
            <a:off x="643737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_151"/>
          <p:cNvSpPr txBox="1"/>
          <p:nvPr/>
        </p:nvSpPr>
        <p:spPr>
          <a:xfrm>
            <a:off x="6437376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Обрати модуль</a:t>
            </a:r>
            <a:endParaRPr lang="en-US" sz="1500" dirty="0"/>
          </a:p>
        </p:txBody>
      </p:sp>
      <p:sp>
        <p:nvSpPr>
          <p:cNvPr id="19" name="t_152"/>
          <p:cNvSpPr txBox="1"/>
          <p:nvPr/>
        </p:nvSpPr>
        <p:spPr>
          <a:xfrm>
            <a:off x="6437376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Натиснути потрібну кнопку: типографіка, чергування, граматика тощо.</a:t>
            </a:r>
            <a:endParaRPr lang="en-US" sz="1200" dirty="0"/>
          </a:p>
        </p:txBody>
      </p:sp>
      <p:sp>
        <p:nvSpPr>
          <p:cNvPr id="20" name="arrow_153"/>
          <p:cNvSpPr/>
          <p:nvPr/>
        </p:nvSpPr>
        <p:spPr>
          <a:xfrm>
            <a:off x="8833104" y="2926080"/>
            <a:ext cx="137160" cy="237744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21" name="step_154"/>
          <p:cNvSpPr/>
          <p:nvPr/>
        </p:nvSpPr>
        <p:spPr>
          <a:xfrm>
            <a:off x="8997696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2" name="badge_155"/>
          <p:cNvSpPr/>
          <p:nvPr/>
        </p:nvSpPr>
        <p:spPr>
          <a:xfrm>
            <a:off x="9253728" y="1874520"/>
            <a:ext cx="566928" cy="56692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23" name="badgeTxt_156"/>
          <p:cNvSpPr txBox="1"/>
          <p:nvPr/>
        </p:nvSpPr>
        <p:spPr>
          <a:xfrm>
            <a:off x="925372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_157"/>
          <p:cNvSpPr txBox="1"/>
          <p:nvPr/>
        </p:nvSpPr>
        <p:spPr>
          <a:xfrm>
            <a:off x="9253728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Переглянути результат</a:t>
            </a:r>
            <a:endParaRPr lang="en-US" sz="1500" dirty="0"/>
          </a:p>
        </p:txBody>
      </p:sp>
      <p:sp>
        <p:nvSpPr>
          <p:cNvPr id="25" name="t_158"/>
          <p:cNvSpPr txBox="1"/>
          <p:nvPr/>
        </p:nvSpPr>
        <p:spPr>
          <a:xfrm>
            <a:off x="9253728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3EA"/>
                </a:solidFill>
              </a:rPr>
              <a:t>Сині фрагменти — виправлено; виділення з коментарем — на ваш розсуд.</a:t>
            </a:r>
            <a:endParaRPr lang="en-US" sz="1200" dirty="0"/>
          </a:p>
        </p:txBody>
      </p:sp>
      <p:sp>
        <p:nvSpPr>
          <p:cNvPr id="26" name="note_159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2FA"/>
          </a:solidFill>
          <a:ln/>
        </p:spPr>
      </p:sp>
      <p:sp>
        <p:nvSpPr>
          <p:cNvPr id="27" name="t_160"/>
          <p:cNvSpPr txBox="1"/>
          <p:nvPr/>
        </p:nvSpPr>
        <p:spPr>
          <a:xfrm>
            <a:off x="86868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Що варто знати заздалегідь</a:t>
            </a:r>
            <a:endParaRPr lang="en-US" sz="1400" dirty="0"/>
          </a:p>
        </p:txBody>
      </p:sp>
      <p:sp>
        <p:nvSpPr>
          <p:cNvPr id="28" name="t_161"/>
          <p:cNvSpPr txBox="1"/>
          <p:nvPr/>
        </p:nvSpPr>
        <p:spPr>
          <a:xfrm>
            <a:off x="868680" y="5376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Доповнення для Google Документів працює на комп'ютері, а не в мобільних застосунках. Для Microsoft Word є окрема версія з власними вимогами до розрядності та випуску Office — їх варто перевірити перед встановленням.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Як це працює: до і після</a:t>
            </a:r>
            <a:endParaRPr lang="en-US" sz="3200" dirty="0"/>
          </a:p>
        </p:txBody>
      </p:sp>
      <p:sp>
        <p:nvSpPr>
          <p:cNvPr id="3" name="before_162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BEAE8"/>
          </a:solidFill>
          <a:ln/>
        </p:spPr>
      </p:sp>
      <p:sp>
        <p:nvSpPr>
          <p:cNvPr id="4" name="t_163"/>
          <p:cNvSpPr txBox="1"/>
          <p:nvPr/>
        </p:nvSpPr>
        <p:spPr>
          <a:xfrm>
            <a:off x="8229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</a:rPr>
              <a:t>БУЛО</a:t>
            </a:r>
            <a:endParaRPr lang="en-US" sz="1200" dirty="0"/>
          </a:p>
        </p:txBody>
      </p:sp>
      <p:sp>
        <p:nvSpPr>
          <p:cNvPr id="5" name="t_164"/>
          <p:cNvSpPr txBox="1"/>
          <p:nvPr/>
        </p:nvSpPr>
        <p:spPr>
          <a:xfrm>
            <a:off x="822960" y="2011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В відповідності до цій великої угоди, ми приймаємо участь у заході - 5 травня.</a:t>
            </a:r>
            <a:endParaRPr lang="en-US" sz="1600" dirty="0"/>
          </a:p>
        </p:txBody>
      </p:sp>
      <p:sp>
        <p:nvSpPr>
          <p:cNvPr id="6" name="arrow_165"/>
          <p:cNvSpPr/>
          <p:nvPr/>
        </p:nvSpPr>
        <p:spPr>
          <a:xfrm>
            <a:off x="6062472" y="2103120"/>
            <a:ext cx="566928" cy="502920"/>
          </a:xfrm>
          <a:prstGeom prst="rightArrow">
            <a:avLst/>
          </a:prstGeom>
          <a:solidFill>
            <a:srgbClr val="E58B2B"/>
          </a:solidFill>
          <a:ln/>
        </p:spPr>
      </p:sp>
      <p:sp>
        <p:nvSpPr>
          <p:cNvPr id="7" name="after_166"/>
          <p:cNvSpPr/>
          <p:nvPr/>
        </p:nvSpPr>
        <p:spPr>
          <a:xfrm>
            <a:off x="6766560" y="146304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E6F4EC"/>
          </a:solidFill>
          <a:ln/>
        </p:spPr>
      </p:sp>
      <p:sp>
        <p:nvSpPr>
          <p:cNvPr id="8" name="t_167"/>
          <p:cNvSpPr txBox="1"/>
          <p:nvPr/>
        </p:nvSpPr>
        <p:spPr>
          <a:xfrm>
            <a:off x="70408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6B"/>
                </a:solidFill>
              </a:rPr>
              <a:t>СТАЛО</a:t>
            </a:r>
            <a:endParaRPr lang="en-US" sz="1200" dirty="0"/>
          </a:p>
        </p:txBody>
      </p:sp>
      <p:sp>
        <p:nvSpPr>
          <p:cNvPr id="9" name="t_168"/>
          <p:cNvSpPr txBox="1"/>
          <p:nvPr/>
        </p:nvSpPr>
        <p:spPr>
          <a:xfrm>
            <a:off x="7040880" y="2011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Відповідно до цієї великої угоди ми беремо участь у заході — 5 травня.</a:t>
            </a:r>
            <a:endParaRPr lang="en-US" sz="1600" dirty="0"/>
          </a:p>
        </p:txBody>
      </p:sp>
      <p:sp>
        <p:nvSpPr>
          <p:cNvPr id="10" name="t_169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Який модуль що зробив</a:t>
            </a:r>
            <a:endParaRPr lang="en-US" sz="1700" dirty="0"/>
          </a:p>
        </p:txBody>
      </p:sp>
      <p:sp>
        <p:nvSpPr>
          <p:cNvPr id="11" name="dot_170"/>
          <p:cNvSpPr/>
          <p:nvPr/>
        </p:nvSpPr>
        <p:spPr>
          <a:xfrm>
            <a:off x="548640" y="4133088"/>
            <a:ext cx="164592" cy="164592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2" name="t_171"/>
          <p:cNvSpPr txBox="1"/>
          <p:nvPr/>
        </p:nvSpPr>
        <p:spPr>
          <a:xfrm>
            <a:off x="868680" y="40233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Типографіка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—  дефіс замість тире  →  </a:t>
            </a:r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замінено на «—»</a:t>
            </a:r>
            <a:pPr indent="0" marL="0">
              <a:buNone/>
            </a:pPr>
            <a:r>
              <a:rPr lang="en-US" sz="1400" i="1" dirty="0">
                <a:solidFill>
                  <a:srgbClr val="6B7A90"/>
                </a:solidFill>
              </a:rPr>
              <a:t>   (виправив сам)</a:t>
            </a:r>
            <a:endParaRPr lang="en-US" sz="1400" dirty="0"/>
          </a:p>
        </p:txBody>
      </p:sp>
      <p:sp>
        <p:nvSpPr>
          <p:cNvPr id="13" name="dot_172"/>
          <p:cNvSpPr/>
          <p:nvPr/>
        </p:nvSpPr>
        <p:spPr>
          <a:xfrm>
            <a:off x="548640" y="4700016"/>
            <a:ext cx="164592" cy="164592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4" name="t_173"/>
          <p:cNvSpPr txBox="1"/>
          <p:nvPr/>
        </p:nvSpPr>
        <p:spPr>
          <a:xfrm>
            <a:off x="868680" y="459028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B5"/>
                </a:solidFill>
              </a:rPr>
              <a:t>Чергування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—  «В відповідності» після приголосної  →  </a:t>
            </a:r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«Відповідно»</a:t>
            </a:r>
            <a:pPr indent="0" marL="0">
              <a:buNone/>
            </a:pPr>
            <a:r>
              <a:rPr lang="en-US" sz="1400" i="1" dirty="0">
                <a:solidFill>
                  <a:srgbClr val="6B7A90"/>
                </a:solidFill>
              </a:rPr>
              <a:t>   (виправив сам)</a:t>
            </a:r>
            <a:endParaRPr lang="en-US" sz="1400" dirty="0"/>
          </a:p>
        </p:txBody>
      </p:sp>
      <p:sp>
        <p:nvSpPr>
          <p:cNvPr id="15" name="dot_174"/>
          <p:cNvSpPr/>
          <p:nvPr/>
        </p:nvSpPr>
        <p:spPr>
          <a:xfrm>
            <a:off x="548640" y="5266944"/>
            <a:ext cx="164592" cy="164592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6" name="t_175"/>
          <p:cNvSpPr txBox="1"/>
          <p:nvPr/>
        </p:nvSpPr>
        <p:spPr>
          <a:xfrm>
            <a:off x="868680" y="5157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B2B"/>
                </a:solidFill>
              </a:rPr>
              <a:t>Граматика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—  неузгоджені закінчення «цій великої»  →  </a:t>
            </a:r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«цієї великої»</a:t>
            </a:r>
            <a:pPr indent="0" marL="0">
              <a:buNone/>
            </a:pPr>
            <a:r>
              <a:rPr lang="en-US" sz="1400" i="1" dirty="0">
                <a:solidFill>
                  <a:srgbClr val="6B7A90"/>
                </a:solidFill>
              </a:rPr>
              <a:t>   (підказав)</a:t>
            </a:r>
            <a:endParaRPr lang="en-US" sz="1400" dirty="0"/>
          </a:p>
        </p:txBody>
      </p:sp>
      <p:sp>
        <p:nvSpPr>
          <p:cNvPr id="17" name="dot_176"/>
          <p:cNvSpPr/>
          <p:nvPr/>
        </p:nvSpPr>
        <p:spPr>
          <a:xfrm>
            <a:off x="548640" y="5833872"/>
            <a:ext cx="164592" cy="164592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8" name="t_177"/>
          <p:cNvSpPr txBox="1"/>
          <p:nvPr/>
        </p:nvSpPr>
        <p:spPr>
          <a:xfrm>
            <a:off x="868680" y="5724144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B2B"/>
                </a:solidFill>
              </a:rPr>
              <a:t>Лексика та стиль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—  калька «приймаємо участь»  →  </a:t>
            </a:r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«беремо участь»</a:t>
            </a:r>
            <a:pPr indent="0" marL="0">
              <a:buNone/>
            </a:pPr>
            <a:r>
              <a:rPr lang="en-US" sz="1400" i="1" dirty="0">
                <a:solidFill>
                  <a:srgbClr val="6B7A90"/>
                </a:solidFill>
              </a:rPr>
              <a:t>   (підказав)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Переваги сервісу</a:t>
            </a:r>
            <a:endParaRPr lang="en-US" sz="3200" dirty="0"/>
          </a:p>
        </p:txBody>
      </p:sp>
      <p:sp>
        <p:nvSpPr>
          <p:cNvPr id="3" name="ok_178"/>
          <p:cNvSpPr/>
          <p:nvPr/>
        </p:nvSpPr>
        <p:spPr>
          <a:xfrm>
            <a:off x="548640" y="1609344"/>
            <a:ext cx="420624" cy="42062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4" name="t_179"/>
          <p:cNvSpPr txBox="1"/>
          <p:nvPr/>
        </p:nvSpPr>
        <p:spPr>
          <a:xfrm>
            <a:off x="5486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_180"/>
          <p:cNvSpPr txBox="1"/>
          <p:nvPr/>
        </p:nvSpPr>
        <p:spPr>
          <a:xfrm>
            <a:off x="1170432" y="15544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Створений для української</a:t>
            </a:r>
            <a:endParaRPr lang="en-US" sz="1600" dirty="0"/>
          </a:p>
        </p:txBody>
      </p:sp>
      <p:sp>
        <p:nvSpPr>
          <p:cNvPr id="6" name="t_181"/>
          <p:cNvSpPr txBox="1"/>
          <p:nvPr/>
        </p:nvSpPr>
        <p:spPr>
          <a:xfrm>
            <a:off x="1170432" y="19019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Власна база правил, а не адаптація англомовного інструмента.</a:t>
            </a:r>
            <a:endParaRPr lang="en-US" sz="1300" dirty="0"/>
          </a:p>
        </p:txBody>
      </p:sp>
      <p:sp>
        <p:nvSpPr>
          <p:cNvPr id="7" name="ok_182"/>
          <p:cNvSpPr/>
          <p:nvPr/>
        </p:nvSpPr>
        <p:spPr>
          <a:xfrm>
            <a:off x="548640" y="2523744"/>
            <a:ext cx="420624" cy="42062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_183"/>
          <p:cNvSpPr txBox="1"/>
          <p:nvPr/>
        </p:nvSpPr>
        <p:spPr>
          <a:xfrm>
            <a:off x="54864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_184"/>
          <p:cNvSpPr txBox="1"/>
          <p:nvPr/>
        </p:nvSpPr>
        <p:spPr>
          <a:xfrm>
            <a:off x="1170432" y="24688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Працює там, де ви пишете</a:t>
            </a:r>
            <a:endParaRPr lang="en-US" sz="1600" dirty="0"/>
          </a:p>
        </p:txBody>
      </p:sp>
      <p:sp>
        <p:nvSpPr>
          <p:cNvPr id="10" name="t_185"/>
          <p:cNvSpPr txBox="1"/>
          <p:nvPr/>
        </p:nvSpPr>
        <p:spPr>
          <a:xfrm>
            <a:off x="1170432" y="28163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Доповнення для Google Документів і Word — без копіювання тексту.</a:t>
            </a:r>
            <a:endParaRPr lang="en-US" sz="1300" dirty="0"/>
          </a:p>
        </p:txBody>
      </p:sp>
      <p:sp>
        <p:nvSpPr>
          <p:cNvPr id="11" name="ok_186"/>
          <p:cNvSpPr/>
          <p:nvPr/>
        </p:nvSpPr>
        <p:spPr>
          <a:xfrm>
            <a:off x="548640" y="3438144"/>
            <a:ext cx="420624" cy="42062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2" name="t_187"/>
          <p:cNvSpPr txBox="1"/>
          <p:nvPr/>
        </p:nvSpPr>
        <p:spPr>
          <a:xfrm>
            <a:off x="5486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_188"/>
          <p:cNvSpPr txBox="1"/>
          <p:nvPr/>
        </p:nvSpPr>
        <p:spPr>
          <a:xfrm>
            <a:off x="1170432" y="33832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Враховує правопис 2019</a:t>
            </a:r>
            <a:endParaRPr lang="en-US" sz="1600" dirty="0"/>
          </a:p>
        </p:txBody>
      </p:sp>
      <p:sp>
        <p:nvSpPr>
          <p:cNvPr id="14" name="t_189"/>
          <p:cNvSpPr txBox="1"/>
          <p:nvPr/>
        </p:nvSpPr>
        <p:spPr>
          <a:xfrm>
            <a:off x="1170432" y="37307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Окремий модуль приводить текст до чинної редакції правопису.</a:t>
            </a:r>
            <a:endParaRPr lang="en-US" sz="1300" dirty="0"/>
          </a:p>
        </p:txBody>
      </p:sp>
      <p:sp>
        <p:nvSpPr>
          <p:cNvPr id="15" name="ok_190"/>
          <p:cNvSpPr/>
          <p:nvPr/>
        </p:nvSpPr>
        <p:spPr>
          <a:xfrm>
            <a:off x="548640" y="4352544"/>
            <a:ext cx="420624" cy="42062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6" name="t_191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_192"/>
          <p:cNvSpPr txBox="1"/>
          <p:nvPr/>
        </p:nvSpPr>
        <p:spPr>
          <a:xfrm>
            <a:off x="1170432" y="42976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Розрізняє норму і сумнів</a:t>
            </a:r>
            <a:endParaRPr lang="en-US" sz="1600" dirty="0"/>
          </a:p>
        </p:txBody>
      </p:sp>
      <p:sp>
        <p:nvSpPr>
          <p:cNvPr id="18" name="t_193"/>
          <p:cNvSpPr txBox="1"/>
          <p:nvPr/>
        </p:nvSpPr>
        <p:spPr>
          <a:xfrm>
            <a:off x="1170432" y="46451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Однозначне виправляє, спірне — виділяє та коментує.</a:t>
            </a:r>
            <a:endParaRPr lang="en-US" sz="1300" dirty="0"/>
          </a:p>
        </p:txBody>
      </p:sp>
      <p:sp>
        <p:nvSpPr>
          <p:cNvPr id="19" name="ok_194"/>
          <p:cNvSpPr/>
          <p:nvPr/>
        </p:nvSpPr>
        <p:spPr>
          <a:xfrm>
            <a:off x="548640" y="5266944"/>
            <a:ext cx="420624" cy="42062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0" name="t_195"/>
          <p:cNvSpPr txBox="1"/>
          <p:nvPr/>
        </p:nvSpPr>
        <p:spPr>
          <a:xfrm>
            <a:off x="548640" y="5266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_196"/>
          <p:cNvSpPr txBox="1"/>
          <p:nvPr/>
        </p:nvSpPr>
        <p:spPr>
          <a:xfrm>
            <a:off x="1170432" y="52120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Модульність</a:t>
            </a:r>
            <a:endParaRPr lang="en-US" sz="1600" dirty="0"/>
          </a:p>
        </p:txBody>
      </p:sp>
      <p:sp>
        <p:nvSpPr>
          <p:cNvPr id="22" name="t_197"/>
          <p:cNvSpPr txBox="1"/>
          <p:nvPr/>
        </p:nvSpPr>
        <p:spPr>
          <a:xfrm>
            <a:off x="1170432" y="55595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Можна запускати лише потрібну перевірку, а не всю одразу.</a:t>
            </a:r>
            <a:endParaRPr lang="en-US" sz="1300" dirty="0"/>
          </a:p>
        </p:txBody>
      </p:sp>
      <p:sp>
        <p:nvSpPr>
          <p:cNvPr id="23" name="quote_198"/>
          <p:cNvSpPr/>
          <p:nvPr/>
        </p:nvSpPr>
        <p:spPr>
          <a:xfrm>
            <a:off x="8183880" y="155448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</p:spPr>
      </p:sp>
      <p:sp>
        <p:nvSpPr>
          <p:cNvPr id="24" name="t_199"/>
          <p:cNvSpPr txBox="1"/>
          <p:nvPr/>
        </p:nvSpPr>
        <p:spPr>
          <a:xfrm>
            <a:off x="850392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8B2B"/>
                </a:solidFill>
              </a:rPr>
              <a:t>Головне</a:t>
            </a:r>
            <a:endParaRPr lang="en-US" sz="1200" dirty="0"/>
          </a:p>
        </p:txBody>
      </p:sp>
      <p:sp>
        <p:nvSpPr>
          <p:cNvPr id="25" name="t_200"/>
          <p:cNvSpPr txBox="1"/>
          <p:nvPr/>
        </p:nvSpPr>
        <p:spPr>
          <a:xfrm>
            <a:off x="8503920" y="237744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Сервіс не пише за редактора — він знімає з нього механічну роботу та повертає час на зміст.</a:t>
            </a:r>
            <a:endParaRPr lang="en-US" sz="1700" dirty="0"/>
          </a:p>
        </p:txBody>
      </p:sp>
      <p:sp>
        <p:nvSpPr>
          <p:cNvPr id="26" name="rule_201"/>
          <p:cNvSpPr/>
          <p:nvPr/>
        </p:nvSpPr>
        <p:spPr>
          <a:xfrm>
            <a:off x="8503920" y="4434840"/>
            <a:ext cx="1097280" cy="0"/>
          </a:xfrm>
          <a:prstGeom prst="line">
            <a:avLst/>
          </a:prstGeom>
          <a:noFill/>
          <a:ln w="38100">
            <a:solidFill>
              <a:srgbClr val="E58B2B"/>
            </a:solidFill>
            <a:prstDash val="solid"/>
          </a:ln>
        </p:spPr>
      </p:sp>
      <p:sp>
        <p:nvSpPr>
          <p:cNvPr id="27" name="t_202"/>
          <p:cNvSpPr txBox="1"/>
          <p:nvPr/>
        </p:nvSpPr>
        <p:spPr>
          <a:xfrm>
            <a:off x="8503920" y="46177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7D3EA"/>
                </a:solidFill>
              </a:rPr>
              <a:t>Перший фільтр, а не остаточне рішення.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Обмеження та ризики</a:t>
            </a:r>
            <a:endParaRPr lang="en-US" sz="3200" dirty="0"/>
          </a:p>
        </p:txBody>
      </p:sp>
      <p:sp>
        <p:nvSpPr>
          <p:cNvPr id="3" name="con_203"/>
          <p:cNvSpPr/>
          <p:nvPr/>
        </p:nvSpPr>
        <p:spPr>
          <a:xfrm>
            <a:off x="548640" y="150876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/>
        </p:spPr>
      </p:sp>
      <p:sp>
        <p:nvSpPr>
          <p:cNvPr id="4" name="warn_204"/>
          <p:cNvSpPr/>
          <p:nvPr/>
        </p:nvSpPr>
        <p:spPr>
          <a:xfrm>
            <a:off x="804672" y="1801368"/>
            <a:ext cx="475488" cy="47548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5" name="t_205"/>
          <p:cNvSpPr txBox="1"/>
          <p:nvPr/>
        </p:nvSpPr>
        <p:spPr>
          <a:xfrm>
            <a:off x="804672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6" name="t_206"/>
          <p:cNvSpPr txBox="1"/>
          <p:nvPr/>
        </p:nvSpPr>
        <p:spPr>
          <a:xfrm>
            <a:off x="1444752" y="16916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Безкоштовний план обмежений</a:t>
            </a:r>
            <a:endParaRPr lang="en-US" sz="1500" dirty="0"/>
          </a:p>
        </p:txBody>
      </p:sp>
      <p:sp>
        <p:nvSpPr>
          <p:cNvPr id="7" name="t_207"/>
          <p:cNvSpPr txBox="1"/>
          <p:nvPr/>
        </p:nvSpPr>
        <p:spPr>
          <a:xfrm>
            <a:off x="1444752" y="20391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У плані «Базова» доступний лише частина набору правил.</a:t>
            </a:r>
            <a:endParaRPr lang="en-US" sz="1300" dirty="0"/>
          </a:p>
        </p:txBody>
      </p:sp>
      <p:sp>
        <p:nvSpPr>
          <p:cNvPr id="8" name="con_208"/>
          <p:cNvSpPr/>
          <p:nvPr/>
        </p:nvSpPr>
        <p:spPr>
          <a:xfrm>
            <a:off x="6355080" y="150876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/>
        </p:spPr>
      </p:sp>
      <p:sp>
        <p:nvSpPr>
          <p:cNvPr id="9" name="warn_209"/>
          <p:cNvSpPr/>
          <p:nvPr/>
        </p:nvSpPr>
        <p:spPr>
          <a:xfrm>
            <a:off x="6611112" y="180136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_210"/>
          <p:cNvSpPr txBox="1"/>
          <p:nvPr/>
        </p:nvSpPr>
        <p:spPr>
          <a:xfrm>
            <a:off x="6611112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1" name="t_211"/>
          <p:cNvSpPr txBox="1"/>
          <p:nvPr/>
        </p:nvSpPr>
        <p:spPr>
          <a:xfrm>
            <a:off x="7251192" y="16916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Не розпізнає контекст</a:t>
            </a:r>
            <a:endParaRPr lang="en-US" sz="1500" dirty="0"/>
          </a:p>
        </p:txBody>
      </p:sp>
      <p:sp>
        <p:nvSpPr>
          <p:cNvPr id="12" name="t_212"/>
          <p:cNvSpPr txBox="1"/>
          <p:nvPr/>
        </p:nvSpPr>
        <p:spPr>
          <a:xfrm>
            <a:off x="7251192" y="20391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Омоніми, іронія, свідомий авторський стиль лишаються поза увагою.</a:t>
            </a:r>
            <a:endParaRPr lang="en-US" sz="1300" dirty="0"/>
          </a:p>
        </p:txBody>
      </p:sp>
      <p:sp>
        <p:nvSpPr>
          <p:cNvPr id="13" name="con_213"/>
          <p:cNvSpPr/>
          <p:nvPr/>
        </p:nvSpPr>
        <p:spPr>
          <a:xfrm>
            <a:off x="548640" y="2807208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/>
        </p:spPr>
      </p:sp>
      <p:sp>
        <p:nvSpPr>
          <p:cNvPr id="14" name="warn_214"/>
          <p:cNvSpPr/>
          <p:nvPr/>
        </p:nvSpPr>
        <p:spPr>
          <a:xfrm>
            <a:off x="804672" y="3099816"/>
            <a:ext cx="475488" cy="47548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5" name="t_215"/>
          <p:cNvSpPr txBox="1"/>
          <p:nvPr/>
        </p:nvSpPr>
        <p:spPr>
          <a:xfrm>
            <a:off x="804672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6" name="t_216"/>
          <p:cNvSpPr txBox="1"/>
          <p:nvPr/>
        </p:nvSpPr>
        <p:spPr>
          <a:xfrm>
            <a:off x="1444752" y="29900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Лише на комп'ютері</a:t>
            </a:r>
            <a:endParaRPr lang="en-US" sz="1500" dirty="0"/>
          </a:p>
        </p:txBody>
      </p:sp>
      <p:sp>
        <p:nvSpPr>
          <p:cNvPr id="17" name="t_217"/>
          <p:cNvSpPr txBox="1"/>
          <p:nvPr/>
        </p:nvSpPr>
        <p:spPr>
          <a:xfrm>
            <a:off x="1444752" y="3337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У мобільних застосунках Google Документів доповнення недоступне.</a:t>
            </a:r>
            <a:endParaRPr lang="en-US" sz="1300" dirty="0"/>
          </a:p>
        </p:txBody>
      </p:sp>
      <p:sp>
        <p:nvSpPr>
          <p:cNvPr id="18" name="con_218"/>
          <p:cNvSpPr/>
          <p:nvPr/>
        </p:nvSpPr>
        <p:spPr>
          <a:xfrm>
            <a:off x="6355080" y="2807208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/>
        </p:spPr>
      </p:sp>
      <p:sp>
        <p:nvSpPr>
          <p:cNvPr id="19" name="warn_219"/>
          <p:cNvSpPr/>
          <p:nvPr/>
        </p:nvSpPr>
        <p:spPr>
          <a:xfrm>
            <a:off x="6611112" y="3099816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_220"/>
          <p:cNvSpPr txBox="1"/>
          <p:nvPr/>
        </p:nvSpPr>
        <p:spPr>
          <a:xfrm>
            <a:off x="6611112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1" name="t_221"/>
          <p:cNvSpPr txBox="1"/>
          <p:nvPr/>
        </p:nvSpPr>
        <p:spPr>
          <a:xfrm>
            <a:off x="7251192" y="29900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Не перевіряє зміст</a:t>
            </a:r>
            <a:endParaRPr lang="en-US" sz="1500" dirty="0"/>
          </a:p>
        </p:txBody>
      </p:sp>
      <p:sp>
        <p:nvSpPr>
          <p:cNvPr id="22" name="t_222"/>
          <p:cNvSpPr txBox="1"/>
          <p:nvPr/>
        </p:nvSpPr>
        <p:spPr>
          <a:xfrm>
            <a:off x="7251192" y="3337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Фактаж, логіка, структура — зона відповідальності редактора.</a:t>
            </a:r>
            <a:endParaRPr lang="en-US" sz="1300" dirty="0"/>
          </a:p>
        </p:txBody>
      </p:sp>
      <p:sp>
        <p:nvSpPr>
          <p:cNvPr id="23" name="con_223"/>
          <p:cNvSpPr/>
          <p:nvPr/>
        </p:nvSpPr>
        <p:spPr>
          <a:xfrm>
            <a:off x="548640" y="410565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/>
        </p:spPr>
      </p:sp>
      <p:sp>
        <p:nvSpPr>
          <p:cNvPr id="24" name="warn_224"/>
          <p:cNvSpPr/>
          <p:nvPr/>
        </p:nvSpPr>
        <p:spPr>
          <a:xfrm>
            <a:off x="804672" y="4398264"/>
            <a:ext cx="475488" cy="47548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25" name="t_225"/>
          <p:cNvSpPr txBox="1"/>
          <p:nvPr/>
        </p:nvSpPr>
        <p:spPr>
          <a:xfrm>
            <a:off x="804672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6" name="t_226"/>
          <p:cNvSpPr txBox="1"/>
          <p:nvPr/>
        </p:nvSpPr>
        <p:spPr>
          <a:xfrm>
            <a:off x="1444752" y="428853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Питання конфіденційності</a:t>
            </a:r>
            <a:endParaRPr lang="en-US" sz="1500" dirty="0"/>
          </a:p>
        </p:txBody>
      </p:sp>
      <p:sp>
        <p:nvSpPr>
          <p:cNvPr id="27" name="t_227"/>
          <p:cNvSpPr txBox="1"/>
          <p:nvPr/>
        </p:nvSpPr>
        <p:spPr>
          <a:xfrm>
            <a:off x="1444752" y="4636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Текст передається на сервер сервісу й потребує інтернету.</a:t>
            </a:r>
            <a:endParaRPr lang="en-US" sz="1300" dirty="0"/>
          </a:p>
        </p:txBody>
      </p:sp>
      <p:sp>
        <p:nvSpPr>
          <p:cNvPr id="28" name="callout_228"/>
          <p:cNvSpPr/>
          <p:nvPr/>
        </p:nvSpPr>
        <p:spPr>
          <a:xfrm>
            <a:off x="548640" y="54406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29" name="t_229"/>
          <p:cNvSpPr txBox="1"/>
          <p:nvPr/>
        </p:nvSpPr>
        <p:spPr>
          <a:xfrm>
            <a:off x="868680" y="54406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Застереження: автоматична перевірка — це перший фільтр, а не остаточне рішення. Останнє слово завжди за редактором.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Порівняння з аналогами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377440"/>
                <a:gridCol w="237744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Критерій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OnlineCorrector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LanguageTool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Перевірка у Word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Орієнтація на українську мову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так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частково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частково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Чергування у/в, і/й, з/із/зі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так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ні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ні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Типографіка (тире, лапки)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так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частково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частково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Коментарі замість сліпої правки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так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частково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ні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Робота в Google Документах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так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так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ні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Безкоштовний доступ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обмежений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обмежений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у складі пакета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_230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F6FB5"/>
                </a:solidFill>
              </a:rPr>
              <a:t>Висновок: за роботою саме з українським текстом OnlineCorrector виграє в усіх ключових критеріях.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Алгоритм роботи редактора із сервісом</a:t>
            </a:r>
            <a:endParaRPr lang="en-US" sz="3200" dirty="0"/>
          </a:p>
        </p:txBody>
      </p:sp>
      <p:sp>
        <p:nvSpPr>
          <p:cNvPr id="3" name="step_231"/>
          <p:cNvSpPr/>
          <p:nvPr/>
        </p:nvSpPr>
        <p:spPr>
          <a:xfrm>
            <a:off x="548640" y="1645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A"/>
          </a:solidFill>
          <a:ln/>
        </p:spPr>
      </p:sp>
      <p:sp>
        <p:nvSpPr>
          <p:cNvPr id="4" name="badge_232"/>
          <p:cNvSpPr/>
          <p:nvPr/>
        </p:nvSpPr>
        <p:spPr>
          <a:xfrm>
            <a:off x="804672" y="1901952"/>
            <a:ext cx="475488" cy="47548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5" name="badgeTxt_233"/>
          <p:cNvSpPr txBox="1"/>
          <p:nvPr/>
        </p:nvSpPr>
        <p:spPr>
          <a:xfrm>
            <a:off x="8046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234"/>
          <p:cNvSpPr txBox="1"/>
          <p:nvPr/>
        </p:nvSpPr>
        <p:spPr>
          <a:xfrm>
            <a:off x="141732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Чернетка</a:t>
            </a:r>
            <a:endParaRPr lang="en-US" sz="1500" dirty="0"/>
          </a:p>
        </p:txBody>
      </p:sp>
      <p:sp>
        <p:nvSpPr>
          <p:cNvPr id="7" name="t_235"/>
          <p:cNvSpPr txBox="1"/>
          <p:nvPr/>
        </p:nvSpPr>
        <p:spPr>
          <a:xfrm>
            <a:off x="804672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Автор здає текст</a:t>
            </a:r>
            <a:endParaRPr lang="en-US" sz="1300" dirty="0"/>
          </a:p>
        </p:txBody>
      </p:sp>
      <p:sp>
        <p:nvSpPr>
          <p:cNvPr id="8" name="arrow_236"/>
          <p:cNvSpPr/>
          <p:nvPr/>
        </p:nvSpPr>
        <p:spPr>
          <a:xfrm>
            <a:off x="4142232" y="2395728"/>
            <a:ext cx="228600" cy="27432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9" name="step_237"/>
          <p:cNvSpPr/>
          <p:nvPr/>
        </p:nvSpPr>
        <p:spPr>
          <a:xfrm>
            <a:off x="4434840" y="1645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10" name="badge_238"/>
          <p:cNvSpPr/>
          <p:nvPr/>
        </p:nvSpPr>
        <p:spPr>
          <a:xfrm>
            <a:off x="4690872" y="1901952"/>
            <a:ext cx="475488" cy="47548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1" name="badgeTxt_239"/>
          <p:cNvSpPr txBox="1"/>
          <p:nvPr/>
        </p:nvSpPr>
        <p:spPr>
          <a:xfrm>
            <a:off x="46908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_240"/>
          <p:cNvSpPr txBox="1"/>
          <p:nvPr/>
        </p:nvSpPr>
        <p:spPr>
          <a:xfrm>
            <a:off x="530352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Автоперевірка</a:t>
            </a:r>
            <a:endParaRPr lang="en-US" sz="1500" dirty="0"/>
          </a:p>
        </p:txBody>
      </p:sp>
      <p:sp>
        <p:nvSpPr>
          <p:cNvPr id="13" name="t_241"/>
          <p:cNvSpPr txBox="1"/>
          <p:nvPr/>
        </p:nvSpPr>
        <p:spPr>
          <a:xfrm>
            <a:off x="4690872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EA"/>
                </a:solidFill>
              </a:rPr>
              <a:t>Модулі 1–3 правлять механіку</a:t>
            </a:r>
            <a:endParaRPr lang="en-US" sz="1300" dirty="0"/>
          </a:p>
        </p:txBody>
      </p:sp>
      <p:sp>
        <p:nvSpPr>
          <p:cNvPr id="14" name="arrow_242"/>
          <p:cNvSpPr/>
          <p:nvPr/>
        </p:nvSpPr>
        <p:spPr>
          <a:xfrm>
            <a:off x="8028432" y="2395728"/>
            <a:ext cx="228600" cy="27432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5" name="step_243"/>
          <p:cNvSpPr/>
          <p:nvPr/>
        </p:nvSpPr>
        <p:spPr>
          <a:xfrm>
            <a:off x="8321040" y="1645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16" name="badge_244"/>
          <p:cNvSpPr/>
          <p:nvPr/>
        </p:nvSpPr>
        <p:spPr>
          <a:xfrm>
            <a:off x="8577072" y="1901952"/>
            <a:ext cx="475488" cy="475488"/>
          </a:xfrm>
          <a:prstGeom prst="ellipse">
            <a:avLst/>
          </a:prstGeom>
          <a:solidFill>
            <a:srgbClr val="E58B2B"/>
          </a:solidFill>
          <a:ln/>
        </p:spPr>
      </p:sp>
      <p:sp>
        <p:nvSpPr>
          <p:cNvPr id="17" name="badgeTxt_245"/>
          <p:cNvSpPr txBox="1"/>
          <p:nvPr/>
        </p:nvSpPr>
        <p:spPr>
          <a:xfrm>
            <a:off x="85770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_246"/>
          <p:cNvSpPr txBox="1"/>
          <p:nvPr/>
        </p:nvSpPr>
        <p:spPr>
          <a:xfrm>
            <a:off x="918972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Робота з коментарями</a:t>
            </a:r>
            <a:endParaRPr lang="en-US" sz="1500" dirty="0"/>
          </a:p>
        </p:txBody>
      </p:sp>
      <p:sp>
        <p:nvSpPr>
          <p:cNvPr id="19" name="t_247"/>
          <p:cNvSpPr txBox="1"/>
          <p:nvPr/>
        </p:nvSpPr>
        <p:spPr>
          <a:xfrm>
            <a:off x="8577072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EA"/>
                </a:solidFill>
              </a:rPr>
              <a:t>Модулі 4–6 ставлять запитання</a:t>
            </a:r>
            <a:endParaRPr lang="en-US" sz="1300" dirty="0"/>
          </a:p>
        </p:txBody>
      </p:sp>
      <p:sp>
        <p:nvSpPr>
          <p:cNvPr id="20" name="step_248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A"/>
          </a:solidFill>
          <a:ln/>
        </p:spPr>
      </p:sp>
      <p:sp>
        <p:nvSpPr>
          <p:cNvPr id="21" name="badge_249"/>
          <p:cNvSpPr/>
          <p:nvPr/>
        </p:nvSpPr>
        <p:spPr>
          <a:xfrm>
            <a:off x="804672" y="4050792"/>
            <a:ext cx="475488" cy="47548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22" name="badgeTxt_250"/>
          <p:cNvSpPr txBox="1"/>
          <p:nvPr/>
        </p:nvSpPr>
        <p:spPr>
          <a:xfrm>
            <a:off x="804672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_251"/>
          <p:cNvSpPr txBox="1"/>
          <p:nvPr/>
        </p:nvSpPr>
        <p:spPr>
          <a:xfrm>
            <a:off x="1417320" y="40507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Змістове редагування</a:t>
            </a:r>
            <a:endParaRPr lang="en-US" sz="1500" dirty="0"/>
          </a:p>
        </p:txBody>
      </p:sp>
      <p:sp>
        <p:nvSpPr>
          <p:cNvPr id="24" name="t_252"/>
          <p:cNvSpPr txBox="1"/>
          <p:nvPr/>
        </p:nvSpPr>
        <p:spPr>
          <a:xfrm>
            <a:off x="804672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Логіка, структура, стиль</a:t>
            </a:r>
            <a:endParaRPr lang="en-US" sz="1300" dirty="0"/>
          </a:p>
        </p:txBody>
      </p:sp>
      <p:sp>
        <p:nvSpPr>
          <p:cNvPr id="25" name="arrow_253"/>
          <p:cNvSpPr/>
          <p:nvPr/>
        </p:nvSpPr>
        <p:spPr>
          <a:xfrm>
            <a:off x="4142232" y="4544568"/>
            <a:ext cx="228600" cy="27432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26" name="step_254"/>
          <p:cNvSpPr/>
          <p:nvPr/>
        </p:nvSpPr>
        <p:spPr>
          <a:xfrm>
            <a:off x="4434840" y="3794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A"/>
          </a:solidFill>
          <a:ln/>
        </p:spPr>
      </p:sp>
      <p:sp>
        <p:nvSpPr>
          <p:cNvPr id="27" name="badge_255"/>
          <p:cNvSpPr/>
          <p:nvPr/>
        </p:nvSpPr>
        <p:spPr>
          <a:xfrm>
            <a:off x="4690872" y="4050792"/>
            <a:ext cx="475488" cy="47548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28" name="badgeTxt_256"/>
          <p:cNvSpPr txBox="1"/>
          <p:nvPr/>
        </p:nvSpPr>
        <p:spPr>
          <a:xfrm>
            <a:off x="4690872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_257"/>
          <p:cNvSpPr txBox="1"/>
          <p:nvPr/>
        </p:nvSpPr>
        <p:spPr>
          <a:xfrm>
            <a:off x="5303520" y="40507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Коректура</a:t>
            </a:r>
            <a:endParaRPr lang="en-US" sz="1500" dirty="0"/>
          </a:p>
        </p:txBody>
      </p:sp>
      <p:sp>
        <p:nvSpPr>
          <p:cNvPr id="30" name="t_258"/>
          <p:cNvSpPr txBox="1"/>
          <p:nvPr/>
        </p:nvSpPr>
        <p:spPr>
          <a:xfrm>
            <a:off x="4690872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Фінальна вичитка «людським оком»</a:t>
            </a:r>
            <a:endParaRPr lang="en-US" sz="1300" dirty="0"/>
          </a:p>
        </p:txBody>
      </p:sp>
      <p:sp>
        <p:nvSpPr>
          <p:cNvPr id="31" name="arrow_259"/>
          <p:cNvSpPr/>
          <p:nvPr/>
        </p:nvSpPr>
        <p:spPr>
          <a:xfrm>
            <a:off x="8028432" y="4544568"/>
            <a:ext cx="228600" cy="27432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32" name="step_260"/>
          <p:cNvSpPr/>
          <p:nvPr/>
        </p:nvSpPr>
        <p:spPr>
          <a:xfrm>
            <a:off x="8321040" y="3794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A"/>
          </a:solidFill>
          <a:ln/>
        </p:spPr>
      </p:sp>
      <p:sp>
        <p:nvSpPr>
          <p:cNvPr id="33" name="badge_261"/>
          <p:cNvSpPr/>
          <p:nvPr/>
        </p:nvSpPr>
        <p:spPr>
          <a:xfrm>
            <a:off x="8577072" y="4050792"/>
            <a:ext cx="475488" cy="47548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34" name="badgeTxt_262"/>
          <p:cNvSpPr txBox="1"/>
          <p:nvPr/>
        </p:nvSpPr>
        <p:spPr>
          <a:xfrm>
            <a:off x="8577072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_263"/>
          <p:cNvSpPr txBox="1"/>
          <p:nvPr/>
        </p:nvSpPr>
        <p:spPr>
          <a:xfrm>
            <a:off x="9189720" y="40507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Верстка й випуск</a:t>
            </a:r>
            <a:endParaRPr lang="en-US" sz="1500" dirty="0"/>
          </a:p>
        </p:txBody>
      </p:sp>
      <p:sp>
        <p:nvSpPr>
          <p:cNvPr id="36" name="t_264"/>
          <p:cNvSpPr txBox="1"/>
          <p:nvPr/>
        </p:nvSpPr>
        <p:spPr>
          <a:xfrm>
            <a:off x="8577072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Текст іде до читача</a:t>
            </a:r>
            <a:endParaRPr lang="en-US" sz="1300" dirty="0"/>
          </a:p>
        </p:txBody>
      </p:sp>
      <p:sp>
        <p:nvSpPr>
          <p:cNvPr id="37" name="t_265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B5"/>
                </a:solidFill>
              </a:rPr>
              <a:t>Сервіс працює на кроках 2–3 — і не скасовує ані четвертого, ані п'ятого.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Практичні поради</a:t>
            </a:r>
            <a:endParaRPr lang="en-US" sz="3200" dirty="0"/>
          </a:p>
        </p:txBody>
      </p:sp>
      <p:sp>
        <p:nvSpPr>
          <p:cNvPr id="3" name="tip_266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4" name="badge_267"/>
          <p:cNvSpPr/>
          <p:nvPr/>
        </p:nvSpPr>
        <p:spPr>
          <a:xfrm>
            <a:off x="804672" y="18562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badgeTxt_268"/>
          <p:cNvSpPr txBox="1"/>
          <p:nvPr/>
        </p:nvSpPr>
        <p:spPr>
          <a:xfrm>
            <a:off x="804672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269"/>
          <p:cNvSpPr txBox="1"/>
          <p:nvPr/>
        </p:nvSpPr>
        <p:spPr>
          <a:xfrm>
            <a:off x="804672" y="2468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Запускайте модулі по черзі</a:t>
            </a:r>
            <a:endParaRPr lang="en-US" sz="1500" dirty="0"/>
          </a:p>
        </p:txBody>
      </p:sp>
      <p:sp>
        <p:nvSpPr>
          <p:cNvPr id="7" name="t_270"/>
          <p:cNvSpPr txBox="1"/>
          <p:nvPr/>
        </p:nvSpPr>
        <p:spPr>
          <a:xfrm>
            <a:off x="804672" y="28346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Спершу типографіку й чергування, потім граматику та стиль.</a:t>
            </a:r>
            <a:endParaRPr lang="en-US" sz="1300" dirty="0"/>
          </a:p>
        </p:txBody>
      </p:sp>
      <p:sp>
        <p:nvSpPr>
          <p:cNvPr id="8" name="tip_271"/>
          <p:cNvSpPr/>
          <p:nvPr/>
        </p:nvSpPr>
        <p:spPr>
          <a:xfrm>
            <a:off x="4434840" y="1600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9" name="badge_272"/>
          <p:cNvSpPr/>
          <p:nvPr/>
        </p:nvSpPr>
        <p:spPr>
          <a:xfrm>
            <a:off x="4690872" y="18562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badgeTxt_273"/>
          <p:cNvSpPr txBox="1"/>
          <p:nvPr/>
        </p:nvSpPr>
        <p:spPr>
          <a:xfrm>
            <a:off x="4690872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_274"/>
          <p:cNvSpPr txBox="1"/>
          <p:nvPr/>
        </p:nvSpPr>
        <p:spPr>
          <a:xfrm>
            <a:off x="4690872" y="2468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Перевіряйте сині фрагменти</a:t>
            </a:r>
            <a:endParaRPr lang="en-US" sz="1500" dirty="0"/>
          </a:p>
        </p:txBody>
      </p:sp>
      <p:sp>
        <p:nvSpPr>
          <p:cNvPr id="12" name="t_275"/>
          <p:cNvSpPr txBox="1"/>
          <p:nvPr/>
        </p:nvSpPr>
        <p:spPr>
          <a:xfrm>
            <a:off x="4690872" y="28346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Автоматичну правку теж треба переглянути очима.</a:t>
            </a:r>
            <a:endParaRPr lang="en-US" sz="1300" dirty="0"/>
          </a:p>
        </p:txBody>
      </p:sp>
      <p:sp>
        <p:nvSpPr>
          <p:cNvPr id="13" name="tip_276"/>
          <p:cNvSpPr/>
          <p:nvPr/>
        </p:nvSpPr>
        <p:spPr>
          <a:xfrm>
            <a:off x="8321040" y="1600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14" name="badge_277"/>
          <p:cNvSpPr/>
          <p:nvPr/>
        </p:nvSpPr>
        <p:spPr>
          <a:xfrm>
            <a:off x="8577072" y="18562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badgeTxt_278"/>
          <p:cNvSpPr txBox="1"/>
          <p:nvPr/>
        </p:nvSpPr>
        <p:spPr>
          <a:xfrm>
            <a:off x="8577072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_279"/>
          <p:cNvSpPr txBox="1"/>
          <p:nvPr/>
        </p:nvSpPr>
        <p:spPr>
          <a:xfrm>
            <a:off x="8577072" y="2468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Не ігноруйте коментарі</a:t>
            </a:r>
            <a:endParaRPr lang="en-US" sz="1500" dirty="0"/>
          </a:p>
        </p:txBody>
      </p:sp>
      <p:sp>
        <p:nvSpPr>
          <p:cNvPr id="17" name="t_280"/>
          <p:cNvSpPr txBox="1"/>
          <p:nvPr/>
        </p:nvSpPr>
        <p:spPr>
          <a:xfrm>
            <a:off x="8577072" y="28346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Саме в них найцінніші зауваження — і найбільше хибних тривог.</a:t>
            </a:r>
            <a:endParaRPr lang="en-US" sz="1300" dirty="0"/>
          </a:p>
        </p:txBody>
      </p:sp>
      <p:sp>
        <p:nvSpPr>
          <p:cNvPr id="18" name="tip_281"/>
          <p:cNvSpPr/>
          <p:nvPr/>
        </p:nvSpPr>
        <p:spPr>
          <a:xfrm>
            <a:off x="548640" y="38404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19" name="badge_282"/>
          <p:cNvSpPr/>
          <p:nvPr/>
        </p:nvSpPr>
        <p:spPr>
          <a:xfrm>
            <a:off x="804672" y="4096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badgeTxt_283"/>
          <p:cNvSpPr txBox="1"/>
          <p:nvPr/>
        </p:nvSpPr>
        <p:spPr>
          <a:xfrm>
            <a:off x="804672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_284"/>
          <p:cNvSpPr txBox="1"/>
          <p:nvPr/>
        </p:nvSpPr>
        <p:spPr>
          <a:xfrm>
            <a:off x="804672" y="470916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Звіряйтеся зі словниками</a:t>
            </a:r>
            <a:endParaRPr lang="en-US" sz="1500" dirty="0"/>
          </a:p>
        </p:txBody>
      </p:sp>
      <p:sp>
        <p:nvSpPr>
          <p:cNvPr id="22" name="t_285"/>
          <p:cNvSpPr txBox="1"/>
          <p:nvPr/>
        </p:nvSpPr>
        <p:spPr>
          <a:xfrm>
            <a:off x="804672" y="5074920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У спірних випадках — СУМ-20 і «Словники України».</a:t>
            </a:r>
            <a:endParaRPr lang="en-US" sz="1300" dirty="0"/>
          </a:p>
        </p:txBody>
      </p:sp>
      <p:sp>
        <p:nvSpPr>
          <p:cNvPr id="23" name="tip_286"/>
          <p:cNvSpPr/>
          <p:nvPr/>
        </p:nvSpPr>
        <p:spPr>
          <a:xfrm>
            <a:off x="6355080" y="38404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24" name="badge_287"/>
          <p:cNvSpPr/>
          <p:nvPr/>
        </p:nvSpPr>
        <p:spPr>
          <a:xfrm>
            <a:off x="6611112" y="4096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badgeTxt_288"/>
          <p:cNvSpPr txBox="1"/>
          <p:nvPr/>
        </p:nvSpPr>
        <p:spPr>
          <a:xfrm>
            <a:off x="6611112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_289"/>
          <p:cNvSpPr txBox="1"/>
          <p:nvPr/>
        </p:nvSpPr>
        <p:spPr>
          <a:xfrm>
            <a:off x="6611112" y="470916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Бережіть конфіденційність</a:t>
            </a:r>
            <a:endParaRPr lang="en-US" sz="1500" dirty="0"/>
          </a:p>
        </p:txBody>
      </p:sp>
      <p:sp>
        <p:nvSpPr>
          <p:cNvPr id="27" name="t_290"/>
          <p:cNvSpPr txBox="1"/>
          <p:nvPr/>
        </p:nvSpPr>
        <p:spPr>
          <a:xfrm>
            <a:off x="6611112" y="5074920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</a:rPr>
              <a:t>Для службових текстів користуйтеся офлайн-перевіркою.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Висновки</a:t>
            </a:r>
            <a:endParaRPr lang="en-US" sz="3200" dirty="0"/>
          </a:p>
        </p:txBody>
      </p:sp>
      <p:sp>
        <p:nvSpPr>
          <p:cNvPr id="3" name="num_291"/>
          <p:cNvSpPr txBox="1"/>
          <p:nvPr/>
        </p:nvSpPr>
        <p:spPr>
          <a:xfrm>
            <a:off x="548640" y="16002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_292"/>
          <p:cNvSpPr txBox="1"/>
          <p:nvPr/>
        </p:nvSpPr>
        <p:spPr>
          <a:xfrm>
            <a:off x="1325880" y="160020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</a:rPr>
              <a:t>Онлайн-сервіси стали робочим інструментом редактора, а не допоміжною іграшкою.</a:t>
            </a:r>
            <a:endParaRPr lang="en-US" sz="1600" dirty="0"/>
          </a:p>
        </p:txBody>
      </p:sp>
      <p:sp>
        <p:nvSpPr>
          <p:cNvPr id="5" name="num_293"/>
          <p:cNvSpPr txBox="1"/>
          <p:nvPr/>
        </p:nvSpPr>
        <p:spPr>
          <a:xfrm>
            <a:off x="548640" y="25146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_294"/>
          <p:cNvSpPr txBox="1"/>
          <p:nvPr/>
        </p:nvSpPr>
        <p:spPr>
          <a:xfrm>
            <a:off x="1325880" y="251460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</a:rPr>
              <a:t>OnlineCorrector закриває весь спектр суто українських мовних проблем — від типографіки до стилю.</a:t>
            </a:r>
            <a:endParaRPr lang="en-US" sz="1600" dirty="0"/>
          </a:p>
        </p:txBody>
      </p:sp>
      <p:sp>
        <p:nvSpPr>
          <p:cNvPr id="7" name="num_295"/>
          <p:cNvSpPr txBox="1"/>
          <p:nvPr/>
        </p:nvSpPr>
        <p:spPr>
          <a:xfrm>
            <a:off x="548640" y="34290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_296"/>
          <p:cNvSpPr txBox="1"/>
          <p:nvPr/>
        </p:nvSpPr>
        <p:spPr>
          <a:xfrm>
            <a:off x="1325880" y="342900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</a:rPr>
              <a:t>Його методична цінність — у поділі на автоматичну правку та коментарі-підказки.</a:t>
            </a:r>
            <a:endParaRPr lang="en-US" sz="1600" dirty="0"/>
          </a:p>
        </p:txBody>
      </p:sp>
      <p:sp>
        <p:nvSpPr>
          <p:cNvPr id="9" name="num_297"/>
          <p:cNvSpPr txBox="1"/>
          <p:nvPr/>
        </p:nvSpPr>
        <p:spPr>
          <a:xfrm>
            <a:off x="548640" y="43434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_298"/>
          <p:cNvSpPr txBox="1"/>
          <p:nvPr/>
        </p:nvSpPr>
        <p:spPr>
          <a:xfrm>
            <a:off x="1325880" y="434340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</a:rPr>
              <a:t>Слабкі місця — контекст, зміст і обмеження безкоштовного плану.</a:t>
            </a:r>
            <a:endParaRPr lang="en-US" sz="1600" dirty="0"/>
          </a:p>
        </p:txBody>
      </p:sp>
      <p:sp>
        <p:nvSpPr>
          <p:cNvPr id="11" name="num_299"/>
          <p:cNvSpPr txBox="1"/>
          <p:nvPr/>
        </p:nvSpPr>
        <p:spPr>
          <a:xfrm>
            <a:off x="548640" y="52578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_300"/>
          <p:cNvSpPr txBox="1"/>
          <p:nvPr/>
        </p:nvSpPr>
        <p:spPr>
          <a:xfrm>
            <a:off x="1325880" y="525780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</a:rPr>
              <a:t>Оптимальна модель роботи: машина фільтрує, людина вирішує.</a:t>
            </a:r>
            <a:endParaRPr lang="en-US" sz="1600" dirty="0"/>
          </a:p>
        </p:txBody>
      </p:sp>
      <p:sp>
        <p:nvSpPr>
          <p:cNvPr id="13" name="final_301"/>
          <p:cNvSpPr/>
          <p:nvPr/>
        </p:nvSpPr>
        <p:spPr>
          <a:xfrm>
            <a:off x="8686800" y="1600200"/>
            <a:ext cx="2926080" cy="38862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4" name="t_302"/>
          <p:cNvSpPr txBox="1"/>
          <p:nvPr/>
        </p:nvSpPr>
        <p:spPr>
          <a:xfrm>
            <a:off x="8961120" y="21031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Машина фільтрує 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людина вирішує</a:t>
            </a:r>
            <a:endParaRPr lang="en-US" sz="2000" dirty="0"/>
          </a:p>
        </p:txBody>
      </p:sp>
      <p:sp>
        <p:nvSpPr>
          <p:cNvPr id="15" name="t_303"/>
          <p:cNvSpPr txBox="1"/>
          <p:nvPr/>
        </p:nvSpPr>
        <p:spPr>
          <a:xfrm>
            <a:off x="8961120" y="3931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EA"/>
                </a:solidFill>
              </a:rPr>
              <a:t>Автоматизація змінює не роль редактора, а розподіл його часу.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Джерела</a:t>
            </a:r>
            <a:endParaRPr lang="en-US" sz="3200" dirty="0"/>
          </a:p>
        </p:txBody>
      </p:sp>
      <p:sp>
        <p:nvSpPr>
          <p:cNvPr id="3" name="src_304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/>
        </p:spPr>
      </p:sp>
      <p:sp>
        <p:nvSpPr>
          <p:cNvPr id="4" name="dot_305"/>
          <p:cNvSpPr/>
          <p:nvPr/>
        </p:nvSpPr>
        <p:spPr>
          <a:xfrm>
            <a:off x="822960" y="1865376"/>
            <a:ext cx="182880" cy="18288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5" name="t_306"/>
          <p:cNvSpPr txBox="1"/>
          <p:nvPr/>
        </p:nvSpPr>
        <p:spPr>
          <a:xfrm>
            <a:off x="1188720" y="160020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OnlineCorrector</a:t>
            </a:r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   onlinecorrector.com.ua — офіційний сайт сервісу</a:t>
            </a:r>
            <a:endParaRPr lang="en-US" sz="1400" dirty="0"/>
          </a:p>
        </p:txBody>
      </p:sp>
      <p:sp>
        <p:nvSpPr>
          <p:cNvPr id="6" name="src_307"/>
          <p:cNvSpPr/>
          <p:nvPr/>
        </p:nvSpPr>
        <p:spPr>
          <a:xfrm>
            <a:off x="548640" y="24231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7" name="dot_308"/>
          <p:cNvSpPr/>
          <p:nvPr/>
        </p:nvSpPr>
        <p:spPr>
          <a:xfrm>
            <a:off x="822960" y="2688336"/>
            <a:ext cx="182880" cy="18288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8" name="t_309"/>
          <p:cNvSpPr txBox="1"/>
          <p:nvPr/>
        </p:nvSpPr>
        <p:spPr>
          <a:xfrm>
            <a:off x="1188720" y="242316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Сторінка доповнення</a:t>
            </a:r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   onlinecorrector.com.ua/home — опис модулів і можливостей</a:t>
            </a:r>
            <a:endParaRPr lang="en-US" sz="1400" dirty="0"/>
          </a:p>
        </p:txBody>
      </p:sp>
      <p:sp>
        <p:nvSpPr>
          <p:cNvPr id="9" name="src_310"/>
          <p:cNvSpPr/>
          <p:nvPr/>
        </p:nvSpPr>
        <p:spPr>
          <a:xfrm>
            <a:off x="548640" y="32461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/>
        </p:spPr>
      </p:sp>
      <p:sp>
        <p:nvSpPr>
          <p:cNvPr id="10" name="dot_311"/>
          <p:cNvSpPr/>
          <p:nvPr/>
        </p:nvSpPr>
        <p:spPr>
          <a:xfrm>
            <a:off x="822960" y="3511296"/>
            <a:ext cx="182880" cy="18288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1" name="t_312"/>
          <p:cNvSpPr txBox="1"/>
          <p:nvPr/>
        </p:nvSpPr>
        <p:spPr>
          <a:xfrm>
            <a:off x="1188720" y="324612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Google Workspace Marketplace</a:t>
            </a:r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   сторінка доповнення OnlineCorrector</a:t>
            </a:r>
            <a:endParaRPr lang="en-US" sz="1400" dirty="0"/>
          </a:p>
        </p:txBody>
      </p:sp>
      <p:sp>
        <p:nvSpPr>
          <p:cNvPr id="12" name="src_313"/>
          <p:cNvSpPr/>
          <p:nvPr/>
        </p:nvSpPr>
        <p:spPr>
          <a:xfrm>
            <a:off x="548640" y="40690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3" name="dot_314"/>
          <p:cNvSpPr/>
          <p:nvPr/>
        </p:nvSpPr>
        <p:spPr>
          <a:xfrm>
            <a:off x="822960" y="4334256"/>
            <a:ext cx="182880" cy="18288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4" name="t_315"/>
          <p:cNvSpPr txBox="1"/>
          <p:nvPr/>
        </p:nvSpPr>
        <p:spPr>
          <a:xfrm>
            <a:off x="1188720" y="40690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Словник української мови у 20 томах</a:t>
            </a:r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   sum20ua.com</a:t>
            </a:r>
            <a:endParaRPr lang="en-US" sz="1400" dirty="0"/>
          </a:p>
        </p:txBody>
      </p:sp>
      <p:sp>
        <p:nvSpPr>
          <p:cNvPr id="15" name="src_316"/>
          <p:cNvSpPr/>
          <p:nvPr/>
        </p:nvSpPr>
        <p:spPr>
          <a:xfrm>
            <a:off x="548640" y="48920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/>
        </p:spPr>
      </p:sp>
      <p:sp>
        <p:nvSpPr>
          <p:cNvPr id="16" name="dot_317"/>
          <p:cNvSpPr/>
          <p:nvPr/>
        </p:nvSpPr>
        <p:spPr>
          <a:xfrm>
            <a:off x="822960" y="5157216"/>
            <a:ext cx="182880" cy="182880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7" name="t_318"/>
          <p:cNvSpPr txBox="1"/>
          <p:nvPr/>
        </p:nvSpPr>
        <p:spPr>
          <a:xfrm>
            <a:off x="1188720" y="489204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Словники України online</a:t>
            </a:r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</a:rPr>
              <a:t>   lcorp.ulif.org.ua</a:t>
            </a:r>
            <a:endParaRPr lang="en-US" sz="1400" dirty="0"/>
          </a:p>
        </p:txBody>
      </p:sp>
      <p:sp>
        <p:nvSpPr>
          <p:cNvPr id="18" name="t_31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</a:rPr>
              <a:t>Доповніть перелік власними джерелами, якими користувалися під час підготовки.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27648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_320"/>
          <p:cNvSpPr/>
          <p:nvPr/>
        </p:nvSpPr>
        <p:spPr>
          <a:xfrm>
            <a:off x="-914400" y="4206240"/>
            <a:ext cx="3840480" cy="3840480"/>
          </a:xfrm>
          <a:prstGeom prst="ellipse">
            <a:avLst/>
          </a:prstGeom>
          <a:solidFill>
            <a:srgbClr val="2F6FB5">
              <a:alpha val="25000"/>
            </a:srgbClr>
          </a:solidFill>
          <a:ln/>
        </p:spPr>
      </p:sp>
      <p:sp>
        <p:nvSpPr>
          <p:cNvPr id="3" name="deco_321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solidFill>
            <a:srgbClr val="E58B2B">
              <a:alpha val="25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Дякую за увагу!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58B2B"/>
                </a:solidFill>
              </a:rPr>
              <a:t>Запитання?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C7D3EA"/>
                </a:solidFill>
              </a:rPr>
              <a:t>[ПІБ доповідача] · [група] · [контакт]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aktor Navy">
  <a:themeElements>
    <a:clrScheme name="Redaktor Navy">
      <a:dk1>
        <a:srgbClr val="16213E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2F6FB5"/>
      </a:accent2>
      <a:accent3>
        <a:srgbClr val="E58B2B"/>
      </a:accent3>
      <a:accent4>
        <a:srgbClr val="2E9E6B"/>
      </a:accent4>
      <a:accent5>
        <a:srgbClr val="C0392B"/>
      </a:accent5>
      <a:accent6>
        <a:srgbClr val="6B7A90"/>
      </a:accent6>
      <a:hlink>
        <a:srgbClr val="2F6FB5"/>
      </a:hlink>
      <a:folHlink>
        <a:srgbClr val="6B7A90"/>
      </a:folHlink>
    </a:clrScheme>
    <a:fontScheme name="Redaktor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Informatsiini resursy (na dopomohu redaktorovi)</dc:title>
  <dc:subject>Analiz onlain-servisu OnlineCorrector</dc:subject>
  <dc:creator>Praktychne zavdannia 3</dc:creator>
  <cp:lastModifiedBy>Praktychne zavdannia 3</cp:lastModifiedBy>
  <cp:revision>1</cp:revision>
  <dcterms:created xsi:type="dcterms:W3CDTF">2026-10-14T14:19:45Z</dcterms:created>
  <dcterms:modified xsi:type="dcterms:W3CDTF">2026-10-14T14:19:45Z</dcterms:modified>
</cp:coreProperties>
</file>