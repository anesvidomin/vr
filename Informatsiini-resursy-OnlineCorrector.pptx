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8419f46d-b5bd-d9ff-b662-bd0c05b6aaa3}">
          <p14:sldIdLst>
            <p14:sldId id="256"/>
            <p14:sldId id="257"/>
          </p14:sldIdLst>
        </p14:section>
        <p14:section name="Огляд ресурсів" id="{379c8d1b-5dd4-246a-6a07-934ab51f00c1}">
          <p14:sldIdLst>
            <p14:sldId id="258"/>
          </p14:sldIdLst>
        </p14:section>
        <p14:section name="Аналіз сервісу" id="{26fd72b7-2988-80bc-35c6-89b6a0cdebad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актика" id="{1b41b79e-7a74-e3d0-1ca4-b62b8b5e35a6}">
          <p14:sldIdLst>
            <p14:sldId id="265"/>
            <p14:sldId id="266"/>
          </p14:sldIdLst>
        </p14:section>
        <p14:section name="Підсумки" id="{ec71fdcb-c182-3d5f-37d2-ec54eccb9b3d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Вітаю! Тема моєї презентації — інформаційні ресурси на допомогу редакторові. Для детального аналізу я обрав(ла) український сервіс перевірки текстів OnlineCorrector.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Головна теза: сервіс не замінює редактора. Він перерозподіляє робочий час — менше механічної правки, більше уваги до змісту.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корисні редакторові ресурси можна згрупувати у шість напрямів. Сьогодні детально розглянемо перший — перевірку правопису.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OnlineCorrector — український проєкт. Його ключова перевага в тому, що він вбудовується просто в Google Docs і Word, тож не треба нікуди копіювати текст.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Зверніть увагу на пункти 3 і 4 — суржик і милозвучність. Саме цього не бачить вбудована перевірка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чотири зауваження вбудована перевірка Word пропустила б: формально помилок немає, але текст неграмотний з погляду норми.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Найсильніша сторона сервісу — те, чого немає в універсальних перевірок: суржик і милозвучність.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конфіденційність варто пам'ятати окремо: якщо текст службовий або ще не оприлюднений, краще користуватися офлайн-перевіркою.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LanguageTool сильніший у багатомовності, але для українського тексту вужчий. Word перевіряє лише орфографію.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Типова помилка — вважати, що після автоперевірки текст готовий. Коректура «людським оком» лишається обов'язковою.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Порада зі словником винятків економить найбільше часу: інакше сервіс щоразу чіплятиметься до тих самих прізвищ і термінів.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Підсумую: сервіс корисний, але відповідальність за текст він не знімає.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потреби додайте сюди джерела, якими ви користувалися додатково.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Дякую за увагу. Готовий(-а) відповісти на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057400"/>
            <a:ext cx="10332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 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657600"/>
            <a:ext cx="10332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7D3EA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C7D3EA"/>
                </a:solidFill>
              </a:rPr>
              <a:t> 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 </a:t>
            </a: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Інформаційні ресурси (на допомогу редакторові)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468880"/>
            <a:ext cx="10332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 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749040"/>
            <a:ext cx="10332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rgbClr val="C7D3EA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rgbClr val="C7D3EA"/>
                </a:solidFill>
              </a:rPr>
              <a:t> </a:t>
            </a: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_1"/>
          <p:cNvSpPr/>
          <p:nvPr/>
        </p:nvSpPr>
        <p:spPr>
          <a:xfrm>
            <a:off x="9326880" y="822960"/>
            <a:ext cx="3291840" cy="3291840"/>
          </a:xfrm>
          <a:prstGeom prst="ellipse">
            <a:avLst/>
          </a:prstGeom>
          <a:solidFill>
            <a:srgbClr val="2F6FB5">
              <a:alpha val="28000"/>
            </a:srgbClr>
          </a:solidFill>
          <a:ln/>
        </p:spPr>
      </p:sp>
      <p:sp>
        <p:nvSpPr>
          <p:cNvPr id="3" name="deco_2"/>
          <p:cNvSpPr/>
          <p:nvPr/>
        </p:nvSpPr>
        <p:spPr>
          <a:xfrm>
            <a:off x="10424160" y="3108960"/>
            <a:ext cx="2011680" cy="2011680"/>
          </a:xfrm>
          <a:prstGeom prst="ellipse">
            <a:avLst/>
          </a:prstGeom>
          <a:solidFill>
            <a:srgbClr val="E58B2B">
              <a:alpha val="30000"/>
            </a:srgbClr>
          </a:solidFill>
          <a:ln/>
        </p:spPr>
      </p:sp>
      <p:sp>
        <p:nvSpPr>
          <p:cNvPr id="4" name="mark_3"/>
          <p:cNvSpPr txBox="1"/>
          <p:nvPr/>
        </p:nvSpPr>
        <p:spPr>
          <a:xfrm>
            <a:off x="914400" y="868680"/>
            <a:ext cx="1371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8000" dirty="0"/>
          </a:p>
        </p:txBody>
      </p:sp>
      <p:sp>
        <p:nvSpPr>
          <p:cNvPr id="5" name="underline_4"/>
          <p:cNvSpPr/>
          <p:nvPr/>
        </p:nvSpPr>
        <p:spPr>
          <a:xfrm>
            <a:off x="960120" y="1920240"/>
            <a:ext cx="713232" cy="0"/>
          </a:xfrm>
          <a:prstGeom prst="line">
            <a:avLst/>
          </a:prstGeom>
          <a:noFill/>
          <a:ln w="50800">
            <a:solidFill>
              <a:srgbClr val="E58B2B"/>
            </a:solidFill>
            <a:prstDash val="sysDash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0574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Інформаційні ресурси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(на допомогу редакторові)</a:t>
            </a:r>
            <a:endParaRPr lang="en-US" sz="42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657600"/>
            <a:ext cx="103327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58B2B"/>
                </a:solidFill>
              </a:rPr>
              <a:t>Аналіз онлайн-сервісу OnlineCorrector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7D3EA"/>
                </a:solidFill>
              </a:rPr>
              <a:t>Практичне завдання 3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7D3EA"/>
                </a:solidFill>
              </a:rPr>
              <a:t>Виконав(ла): _____________________    Група: __________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Навіщо редакторові онлайн-сервіси</a:t>
            </a:r>
            <a:endParaRPr lang="en-US" sz="3200" dirty="0"/>
          </a:p>
        </p:txBody>
      </p:sp>
      <p:sp>
        <p:nvSpPr>
          <p:cNvPr id="3" name="badge_5"/>
          <p:cNvSpPr/>
          <p:nvPr/>
        </p:nvSpPr>
        <p:spPr>
          <a:xfrm>
            <a:off x="548640" y="154533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badgeTxt_6"/>
          <p:cNvSpPr txBox="1"/>
          <p:nvPr/>
        </p:nvSpPr>
        <p:spPr>
          <a:xfrm>
            <a:off x="548640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head_7"/>
          <p:cNvSpPr txBox="1"/>
          <p:nvPr/>
        </p:nvSpPr>
        <p:spPr>
          <a:xfrm>
            <a:off x="1133856" y="1508760"/>
            <a:ext cx="5266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Обсяги зростають, терміни стискаються</a:t>
            </a:r>
            <a:endParaRPr lang="en-US" sz="1500" dirty="0"/>
          </a:p>
        </p:txBody>
      </p:sp>
      <p:sp>
        <p:nvSpPr>
          <p:cNvPr id="6" name="body_8"/>
          <p:cNvSpPr txBox="1"/>
          <p:nvPr/>
        </p:nvSpPr>
        <p:spPr>
          <a:xfrm>
            <a:off x="1133856" y="1819656"/>
            <a:ext cx="5266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Редактор щодня опрацьовує більше тексту, ніж десять років тому.</a:t>
            </a:r>
            <a:endParaRPr lang="en-US" sz="1300" dirty="0"/>
          </a:p>
        </p:txBody>
      </p:sp>
      <p:sp>
        <p:nvSpPr>
          <p:cNvPr id="7" name="badge_9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8" name="badgeTxt_10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head_11"/>
          <p:cNvSpPr txBox="1"/>
          <p:nvPr/>
        </p:nvSpPr>
        <p:spPr>
          <a:xfrm>
            <a:off x="1133856" y="2679192"/>
            <a:ext cx="5266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Рутина з'їдає робочий час</a:t>
            </a:r>
            <a:endParaRPr lang="en-US" sz="1500" dirty="0"/>
          </a:p>
        </p:txBody>
      </p:sp>
      <p:sp>
        <p:nvSpPr>
          <p:cNvPr id="10" name="body_12"/>
          <p:cNvSpPr txBox="1"/>
          <p:nvPr/>
        </p:nvSpPr>
        <p:spPr>
          <a:xfrm>
            <a:off x="1133856" y="2990088"/>
            <a:ext cx="5266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Друкарські помилки, коми й типографіка забирають години.</a:t>
            </a:r>
            <a:endParaRPr lang="en-US" sz="1300" dirty="0"/>
          </a:p>
        </p:txBody>
      </p:sp>
      <p:sp>
        <p:nvSpPr>
          <p:cNvPr id="11" name="badge_13"/>
          <p:cNvSpPr/>
          <p:nvPr/>
        </p:nvSpPr>
        <p:spPr>
          <a:xfrm>
            <a:off x="548640" y="3886200"/>
            <a:ext cx="384048" cy="384048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12" name="badgeTxt_14"/>
          <p:cNvSpPr txBox="1"/>
          <p:nvPr/>
        </p:nvSpPr>
        <p:spPr>
          <a:xfrm>
            <a:off x="54864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head_15"/>
          <p:cNvSpPr txBox="1"/>
          <p:nvPr/>
        </p:nvSpPr>
        <p:spPr>
          <a:xfrm>
            <a:off x="1133856" y="3849624"/>
            <a:ext cx="5266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Машина бере на себе механіку</a:t>
            </a:r>
            <a:endParaRPr lang="en-US" sz="1500" dirty="0"/>
          </a:p>
        </p:txBody>
      </p:sp>
      <p:sp>
        <p:nvSpPr>
          <p:cNvPr id="14" name="body_16"/>
          <p:cNvSpPr txBox="1"/>
          <p:nvPr/>
        </p:nvSpPr>
        <p:spPr>
          <a:xfrm>
            <a:off x="1133856" y="4160520"/>
            <a:ext cx="5266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Автоперевірка звільняє час на зміст, логіку та стиль.</a:t>
            </a:r>
            <a:endParaRPr lang="en-US" sz="1300" dirty="0"/>
          </a:p>
        </p:txBody>
      </p:sp>
      <p:sp>
        <p:nvSpPr>
          <p:cNvPr id="15" name="badge_17"/>
          <p:cNvSpPr/>
          <p:nvPr/>
        </p:nvSpPr>
        <p:spPr>
          <a:xfrm>
            <a:off x="548640" y="5056632"/>
            <a:ext cx="384048" cy="38404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6" name="badgeTxt_18"/>
          <p:cNvSpPr txBox="1"/>
          <p:nvPr/>
        </p:nvSpPr>
        <p:spPr>
          <a:xfrm>
            <a:off x="548640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head_19"/>
          <p:cNvSpPr txBox="1"/>
          <p:nvPr/>
        </p:nvSpPr>
        <p:spPr>
          <a:xfrm>
            <a:off x="1133856" y="5020056"/>
            <a:ext cx="5266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Доступність</a:t>
            </a:r>
            <a:endParaRPr lang="en-US" sz="1500" dirty="0"/>
          </a:p>
        </p:txBody>
      </p:sp>
      <p:sp>
        <p:nvSpPr>
          <p:cNvPr id="18" name="body_20"/>
          <p:cNvSpPr txBox="1"/>
          <p:nvPr/>
        </p:nvSpPr>
        <p:spPr>
          <a:xfrm>
            <a:off x="1133856" y="5330952"/>
            <a:ext cx="5266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Більшість сервісів безкоштовні й працюють просто у браузері.</a:t>
            </a:r>
            <a:endParaRPr lang="en-US" sz="1300" dirty="0"/>
          </a:p>
        </p:txBody>
      </p:sp>
      <p:sp>
        <p:nvSpPr>
          <p:cNvPr id="19" name="beforeCard_21"/>
          <p:cNvSpPr/>
          <p:nvPr/>
        </p:nvSpPr>
        <p:spPr>
          <a:xfrm>
            <a:off x="6858000" y="1508760"/>
            <a:ext cx="475488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/>
        </p:spPr>
      </p:sp>
      <p:sp>
        <p:nvSpPr>
          <p:cNvPr id="20" name="t_22"/>
          <p:cNvSpPr txBox="1"/>
          <p:nvPr/>
        </p:nvSpPr>
        <p:spPr>
          <a:xfrm>
            <a:off x="713232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90"/>
                </a:solidFill>
              </a:rPr>
              <a:t>Без сервісу</a:t>
            </a:r>
            <a:endParaRPr lang="en-US" sz="1300" dirty="0"/>
          </a:p>
        </p:txBody>
      </p:sp>
      <p:sp>
        <p:nvSpPr>
          <p:cNvPr id="21" name="bar_23"/>
          <p:cNvSpPr/>
          <p:nvPr/>
        </p:nvSpPr>
        <p:spPr>
          <a:xfrm>
            <a:off x="7132320" y="2103120"/>
            <a:ext cx="3200400" cy="420624"/>
          </a:xfrm>
          <a:prstGeom prst="rect">
            <a:avLst/>
          </a:prstGeom>
          <a:solidFill>
            <a:srgbClr val="6B7A90"/>
          </a:solidFill>
          <a:ln/>
        </p:spPr>
      </p:sp>
      <p:sp>
        <p:nvSpPr>
          <p:cNvPr id="22" name="t_24"/>
          <p:cNvSpPr txBox="1"/>
          <p:nvPr/>
        </p:nvSpPr>
        <p:spPr>
          <a:xfrm>
            <a:off x="7223760" y="21031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Механічна правка</a:t>
            </a:r>
            <a:endParaRPr lang="en-US" sz="1200" dirty="0"/>
          </a:p>
        </p:txBody>
      </p:sp>
      <p:sp>
        <p:nvSpPr>
          <p:cNvPr id="23" name="bar_25"/>
          <p:cNvSpPr/>
          <p:nvPr/>
        </p:nvSpPr>
        <p:spPr>
          <a:xfrm>
            <a:off x="7132320" y="2615184"/>
            <a:ext cx="1188720" cy="420624"/>
          </a:xfrm>
          <a:prstGeom prst="rect">
            <a:avLst/>
          </a:prstGeom>
          <a:solidFill>
            <a:srgbClr val="2F6FB5"/>
          </a:solidFill>
          <a:ln/>
        </p:spPr>
      </p:sp>
      <p:sp>
        <p:nvSpPr>
          <p:cNvPr id="24" name="t_26"/>
          <p:cNvSpPr txBox="1"/>
          <p:nvPr/>
        </p:nvSpPr>
        <p:spPr>
          <a:xfrm>
            <a:off x="7223760" y="2615184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Зміст</a:t>
            </a:r>
            <a:endParaRPr lang="en-US" sz="1200" dirty="0"/>
          </a:p>
        </p:txBody>
      </p:sp>
      <p:sp>
        <p:nvSpPr>
          <p:cNvPr id="25" name="arrow_27"/>
          <p:cNvSpPr/>
          <p:nvPr/>
        </p:nvSpPr>
        <p:spPr>
          <a:xfrm>
            <a:off x="8915400" y="3584448"/>
            <a:ext cx="640080" cy="548640"/>
          </a:xfrm>
          <a:prstGeom prst="downArrow">
            <a:avLst/>
          </a:prstGeom>
          <a:solidFill>
            <a:srgbClr val="E58B2B"/>
          </a:solidFill>
          <a:ln/>
        </p:spPr>
      </p:sp>
      <p:sp>
        <p:nvSpPr>
          <p:cNvPr id="26" name="afterCard_28"/>
          <p:cNvSpPr/>
          <p:nvPr/>
        </p:nvSpPr>
        <p:spPr>
          <a:xfrm>
            <a:off x="6858000" y="4224528"/>
            <a:ext cx="4754880" cy="1965960"/>
          </a:xfrm>
          <a:prstGeom prst="roundRect">
            <a:avLst>
              <a:gd name="adj" fmla="val 3721"/>
            </a:avLst>
          </a:prstGeom>
          <a:solidFill>
            <a:srgbClr val="EEF2FA"/>
          </a:solidFill>
          <a:ln/>
        </p:spPr>
      </p:sp>
      <p:sp>
        <p:nvSpPr>
          <p:cNvPr id="27" name="t_29"/>
          <p:cNvSpPr txBox="1"/>
          <p:nvPr/>
        </p:nvSpPr>
        <p:spPr>
          <a:xfrm>
            <a:off x="7132320" y="44074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B5"/>
                </a:solidFill>
              </a:rPr>
              <a:t>Із сервісом</a:t>
            </a:r>
            <a:endParaRPr lang="en-US" sz="1300" dirty="0"/>
          </a:p>
        </p:txBody>
      </p:sp>
      <p:sp>
        <p:nvSpPr>
          <p:cNvPr id="28" name="bar_30"/>
          <p:cNvSpPr/>
          <p:nvPr/>
        </p:nvSpPr>
        <p:spPr>
          <a:xfrm>
            <a:off x="7132320" y="4818888"/>
            <a:ext cx="1188720" cy="420624"/>
          </a:xfrm>
          <a:prstGeom prst="rect">
            <a:avLst/>
          </a:prstGeom>
          <a:solidFill>
            <a:srgbClr val="6B7A90"/>
          </a:solidFill>
          <a:ln/>
        </p:spPr>
      </p:sp>
      <p:sp>
        <p:nvSpPr>
          <p:cNvPr id="29" name="t_31"/>
          <p:cNvSpPr txBox="1"/>
          <p:nvPr/>
        </p:nvSpPr>
        <p:spPr>
          <a:xfrm>
            <a:off x="7205472" y="48188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Механіка</a:t>
            </a:r>
            <a:endParaRPr lang="en-US" sz="1000" dirty="0"/>
          </a:p>
        </p:txBody>
      </p:sp>
      <p:sp>
        <p:nvSpPr>
          <p:cNvPr id="30" name="bar_32"/>
          <p:cNvSpPr/>
          <p:nvPr/>
        </p:nvSpPr>
        <p:spPr>
          <a:xfrm>
            <a:off x="7132320" y="5330952"/>
            <a:ext cx="3200400" cy="420624"/>
          </a:xfrm>
          <a:prstGeom prst="rect">
            <a:avLst/>
          </a:prstGeom>
          <a:solidFill>
            <a:srgbClr val="2F6FB5"/>
          </a:solidFill>
          <a:ln/>
        </p:spPr>
      </p:sp>
      <p:sp>
        <p:nvSpPr>
          <p:cNvPr id="31" name="t_33"/>
          <p:cNvSpPr txBox="1"/>
          <p:nvPr/>
        </p:nvSpPr>
        <p:spPr>
          <a:xfrm>
            <a:off x="7223760" y="533095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Змістове редагування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Карта ресурсів редактора</a:t>
            </a:r>
            <a:endParaRPr lang="en-US" sz="3200" dirty="0"/>
          </a:p>
        </p:txBody>
      </p:sp>
      <p:sp>
        <p:nvSpPr>
          <p:cNvPr id="3" name="group_34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4" name="badge_35"/>
          <p:cNvSpPr/>
          <p:nvPr/>
        </p:nvSpPr>
        <p:spPr>
          <a:xfrm>
            <a:off x="804672" y="17190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badgeTxt_36"/>
          <p:cNvSpPr txBox="1"/>
          <p:nvPr/>
        </p:nvSpPr>
        <p:spPr>
          <a:xfrm>
            <a:off x="80467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_37"/>
          <p:cNvSpPr txBox="1"/>
          <p:nvPr/>
        </p:nvSpPr>
        <p:spPr>
          <a:xfrm>
            <a:off x="804672" y="2304288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Перевірка правопису</a:t>
            </a:r>
            <a:endParaRPr lang="en-US" sz="1500" dirty="0"/>
          </a:p>
        </p:txBody>
      </p:sp>
      <p:sp>
        <p:nvSpPr>
          <p:cNvPr id="7" name="t_38"/>
          <p:cNvSpPr txBox="1"/>
          <p:nvPr/>
        </p:nvSpPr>
        <p:spPr>
          <a:xfrm>
            <a:off x="804672" y="27432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</a:rPr>
              <a:t>Орфографія, пунктуація, стиль</a:t>
            </a:r>
            <a:endParaRPr lang="en-US" sz="1200" dirty="0"/>
          </a:p>
        </p:txBody>
      </p:sp>
      <p:sp>
        <p:nvSpPr>
          <p:cNvPr id="8" name="t_39"/>
          <p:cNvSpPr txBox="1"/>
          <p:nvPr/>
        </p:nvSpPr>
        <p:spPr>
          <a:xfrm>
            <a:off x="804672" y="310896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OnlineCorrector, LanguageTool</a:t>
            </a:r>
            <a:endParaRPr lang="en-US" sz="1200" dirty="0"/>
          </a:p>
        </p:txBody>
      </p:sp>
      <p:sp>
        <p:nvSpPr>
          <p:cNvPr id="9" name="group_40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10" name="badge_41"/>
          <p:cNvSpPr/>
          <p:nvPr/>
        </p:nvSpPr>
        <p:spPr>
          <a:xfrm>
            <a:off x="4553712" y="1719072"/>
            <a:ext cx="457200" cy="45720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1" name="badgeTxt_42"/>
          <p:cNvSpPr txBox="1"/>
          <p:nvPr/>
        </p:nvSpPr>
        <p:spPr>
          <a:xfrm>
            <a:off x="455371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_43"/>
          <p:cNvSpPr txBox="1"/>
          <p:nvPr/>
        </p:nvSpPr>
        <p:spPr>
          <a:xfrm>
            <a:off x="4553712" y="2304288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Словники й довідники</a:t>
            </a:r>
            <a:endParaRPr lang="en-US" sz="1500" dirty="0"/>
          </a:p>
        </p:txBody>
      </p:sp>
      <p:sp>
        <p:nvSpPr>
          <p:cNvPr id="13" name="t_44"/>
          <p:cNvSpPr txBox="1"/>
          <p:nvPr/>
        </p:nvSpPr>
        <p:spPr>
          <a:xfrm>
            <a:off x="4553712" y="27432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</a:rPr>
              <a:t>Значення, наголос, синоніми</a:t>
            </a:r>
            <a:endParaRPr lang="en-US" sz="1200" dirty="0"/>
          </a:p>
        </p:txBody>
      </p:sp>
      <p:sp>
        <p:nvSpPr>
          <p:cNvPr id="14" name="t_45"/>
          <p:cNvSpPr txBox="1"/>
          <p:nvPr/>
        </p:nvSpPr>
        <p:spPr>
          <a:xfrm>
            <a:off x="4553712" y="310896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B5"/>
                </a:solidFill>
              </a:rPr>
              <a:t>СУМ-20, Словники України</a:t>
            </a:r>
            <a:endParaRPr lang="en-US" sz="1200" dirty="0"/>
          </a:p>
        </p:txBody>
      </p:sp>
      <p:sp>
        <p:nvSpPr>
          <p:cNvPr id="15" name="group_46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16" name="badge_47"/>
          <p:cNvSpPr/>
          <p:nvPr/>
        </p:nvSpPr>
        <p:spPr>
          <a:xfrm>
            <a:off x="8302752" y="1719072"/>
            <a:ext cx="457200" cy="457200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17" name="badgeTxt_48"/>
          <p:cNvSpPr txBox="1"/>
          <p:nvPr/>
        </p:nvSpPr>
        <p:spPr>
          <a:xfrm>
            <a:off x="8302752" y="1719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_49"/>
          <p:cNvSpPr txBox="1"/>
          <p:nvPr/>
        </p:nvSpPr>
        <p:spPr>
          <a:xfrm>
            <a:off x="8302752" y="2304288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Антиплагіат</a:t>
            </a:r>
            <a:endParaRPr lang="en-US" sz="1500" dirty="0"/>
          </a:p>
        </p:txBody>
      </p:sp>
      <p:sp>
        <p:nvSpPr>
          <p:cNvPr id="19" name="t_50"/>
          <p:cNvSpPr txBox="1"/>
          <p:nvPr/>
        </p:nvSpPr>
        <p:spPr>
          <a:xfrm>
            <a:off x="8302752" y="274320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</a:rPr>
              <a:t>Унікальність тексту</a:t>
            </a:r>
            <a:endParaRPr lang="en-US" sz="1200" dirty="0"/>
          </a:p>
        </p:txBody>
      </p:sp>
      <p:sp>
        <p:nvSpPr>
          <p:cNvPr id="20" name="t_51"/>
          <p:cNvSpPr txBox="1"/>
          <p:nvPr/>
        </p:nvSpPr>
        <p:spPr>
          <a:xfrm>
            <a:off x="8302752" y="310896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58B2B"/>
                </a:solidFill>
              </a:rPr>
              <a:t>Unicheck, Advego</a:t>
            </a:r>
            <a:endParaRPr lang="en-US" sz="1200" dirty="0"/>
          </a:p>
        </p:txBody>
      </p:sp>
      <p:sp>
        <p:nvSpPr>
          <p:cNvPr id="21" name="group_52"/>
          <p:cNvSpPr/>
          <p:nvPr/>
        </p:nvSpPr>
        <p:spPr>
          <a:xfrm>
            <a:off x="54864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22" name="badge_53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23" name="badgeTxt_54"/>
          <p:cNvSpPr txBox="1"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_55"/>
          <p:cNvSpPr txBox="1"/>
          <p:nvPr/>
        </p:nvSpPr>
        <p:spPr>
          <a:xfrm>
            <a:off x="804672" y="4681728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Робота з форматами</a:t>
            </a:r>
            <a:endParaRPr lang="en-US" sz="1500" dirty="0"/>
          </a:p>
        </p:txBody>
      </p:sp>
      <p:sp>
        <p:nvSpPr>
          <p:cNvPr id="25" name="t_56"/>
          <p:cNvSpPr txBox="1"/>
          <p:nvPr/>
        </p:nvSpPr>
        <p:spPr>
          <a:xfrm>
            <a:off x="804672" y="512064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</a:rPr>
              <a:t>PDF, DOCX, розпізнавання</a:t>
            </a:r>
            <a:endParaRPr lang="en-US" sz="1200" dirty="0"/>
          </a:p>
        </p:txBody>
      </p:sp>
      <p:sp>
        <p:nvSpPr>
          <p:cNvPr id="26" name="t_57"/>
          <p:cNvSpPr txBox="1"/>
          <p:nvPr/>
        </p:nvSpPr>
        <p:spPr>
          <a:xfrm>
            <a:off x="804672" y="54864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Smallpdf, ILovePDF</a:t>
            </a:r>
            <a:endParaRPr lang="en-US" sz="1200" dirty="0"/>
          </a:p>
        </p:txBody>
      </p:sp>
      <p:sp>
        <p:nvSpPr>
          <p:cNvPr id="27" name="group_58"/>
          <p:cNvSpPr/>
          <p:nvPr/>
        </p:nvSpPr>
        <p:spPr>
          <a:xfrm>
            <a:off x="429768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28" name="badge_59"/>
          <p:cNvSpPr/>
          <p:nvPr/>
        </p:nvSpPr>
        <p:spPr>
          <a:xfrm>
            <a:off x="4553712" y="409651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9" name="badgeTxt_60"/>
          <p:cNvSpPr txBox="1"/>
          <p:nvPr/>
        </p:nvSpPr>
        <p:spPr>
          <a:xfrm>
            <a:off x="455371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t_61"/>
          <p:cNvSpPr txBox="1"/>
          <p:nvPr/>
        </p:nvSpPr>
        <p:spPr>
          <a:xfrm>
            <a:off x="4553712" y="4681728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Організація роботи</a:t>
            </a:r>
            <a:endParaRPr lang="en-US" sz="1500" dirty="0"/>
          </a:p>
        </p:txBody>
      </p:sp>
      <p:sp>
        <p:nvSpPr>
          <p:cNvPr id="31" name="t_62"/>
          <p:cNvSpPr txBox="1"/>
          <p:nvPr/>
        </p:nvSpPr>
        <p:spPr>
          <a:xfrm>
            <a:off x="4553712" y="512064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</a:rPr>
              <a:t>Нотатки, завдання, спільна праця</a:t>
            </a:r>
            <a:endParaRPr lang="en-US" sz="1200" dirty="0"/>
          </a:p>
        </p:txBody>
      </p:sp>
      <p:sp>
        <p:nvSpPr>
          <p:cNvPr id="32" name="t_63"/>
          <p:cNvSpPr txBox="1"/>
          <p:nvPr/>
        </p:nvSpPr>
        <p:spPr>
          <a:xfrm>
            <a:off x="4553712" y="54864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</a:rPr>
              <a:t>Google Docs, Trello, Notion</a:t>
            </a:r>
            <a:endParaRPr lang="en-US" sz="1200" dirty="0"/>
          </a:p>
        </p:txBody>
      </p:sp>
      <p:sp>
        <p:nvSpPr>
          <p:cNvPr id="33" name="group_64"/>
          <p:cNvSpPr/>
          <p:nvPr/>
        </p:nvSpPr>
        <p:spPr>
          <a:xfrm>
            <a:off x="804672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34" name="badge_65"/>
          <p:cNvSpPr/>
          <p:nvPr/>
        </p:nvSpPr>
        <p:spPr>
          <a:xfrm>
            <a:off x="8302752" y="4096512"/>
            <a:ext cx="457200" cy="45720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35" name="badgeTxt_66"/>
          <p:cNvSpPr txBox="1"/>
          <p:nvPr/>
        </p:nvSpPr>
        <p:spPr>
          <a:xfrm>
            <a:off x="830275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6" name="t_67"/>
          <p:cNvSpPr txBox="1"/>
          <p:nvPr/>
        </p:nvSpPr>
        <p:spPr>
          <a:xfrm>
            <a:off x="8302752" y="4681728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Візуалізація</a:t>
            </a:r>
            <a:endParaRPr lang="en-US" sz="1500" dirty="0"/>
          </a:p>
        </p:txBody>
      </p:sp>
      <p:sp>
        <p:nvSpPr>
          <p:cNvPr id="37" name="t_68"/>
          <p:cNvSpPr txBox="1"/>
          <p:nvPr/>
        </p:nvSpPr>
        <p:spPr>
          <a:xfrm>
            <a:off x="8302752" y="512064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</a:rPr>
              <a:t>Обкладинки, інфографіка</a:t>
            </a:r>
            <a:endParaRPr lang="en-US" sz="1200" dirty="0"/>
          </a:p>
        </p:txBody>
      </p:sp>
      <p:sp>
        <p:nvSpPr>
          <p:cNvPr id="38" name="t_69"/>
          <p:cNvSpPr txBox="1"/>
          <p:nvPr/>
        </p:nvSpPr>
        <p:spPr>
          <a:xfrm>
            <a:off x="8302752" y="54864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B5"/>
                </a:solidFill>
              </a:rPr>
              <a:t>Canva, Figma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Обраний ресурс: OnlineCorrector</a:t>
            </a:r>
            <a:endParaRPr lang="en-US" sz="3200" dirty="0"/>
          </a:p>
        </p:txBody>
      </p:sp>
      <p:sp>
        <p:nvSpPr>
          <p:cNvPr id="3" name="hero_70"/>
          <p:cNvSpPr/>
          <p:nvPr/>
        </p:nvSpPr>
        <p:spPr>
          <a:xfrm>
            <a:off x="548640" y="1463040"/>
            <a:ext cx="4206240" cy="46634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</p:sp>
      <p:sp>
        <p:nvSpPr>
          <p:cNvPr id="4" name="t_71"/>
          <p:cNvSpPr txBox="1"/>
          <p:nvPr/>
        </p:nvSpPr>
        <p:spPr>
          <a:xfrm>
            <a:off x="960120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</a:rPr>
              <a:t>OC</a:t>
            </a:r>
            <a:endParaRPr lang="en-US" sz="3400" dirty="0"/>
          </a:p>
        </p:txBody>
      </p:sp>
      <p:sp>
        <p:nvSpPr>
          <p:cNvPr id="5" name="logo_72"/>
          <p:cNvSpPr/>
          <p:nvPr/>
        </p:nvSpPr>
        <p:spPr>
          <a:xfrm>
            <a:off x="960120" y="18288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E58B2B"/>
          </a:solidFill>
          <a:ln/>
        </p:spPr>
      </p:sp>
      <p:sp>
        <p:nvSpPr>
          <p:cNvPr id="6" name="t_73"/>
          <p:cNvSpPr txBox="1"/>
          <p:nvPr/>
        </p:nvSpPr>
        <p:spPr>
          <a:xfrm>
            <a:off x="960120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</a:rPr>
              <a:t>OC</a:t>
            </a:r>
            <a:endParaRPr lang="en-US" sz="3400" dirty="0"/>
          </a:p>
        </p:txBody>
      </p:sp>
      <p:sp>
        <p:nvSpPr>
          <p:cNvPr id="7" name="t_74"/>
          <p:cNvSpPr txBox="1"/>
          <p:nvPr/>
        </p:nvSpPr>
        <p:spPr>
          <a:xfrm>
            <a:off x="96012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OnlineCorrector</a:t>
            </a:r>
            <a:endParaRPr lang="en-US" sz="2400" dirty="0"/>
          </a:p>
        </p:txBody>
      </p:sp>
      <p:sp>
        <p:nvSpPr>
          <p:cNvPr id="8" name="t_75"/>
          <p:cNvSpPr txBox="1"/>
          <p:nvPr/>
        </p:nvSpPr>
        <p:spPr>
          <a:xfrm>
            <a:off x="960120" y="3520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8B2B"/>
                </a:solidFill>
              </a:rPr>
              <a:t>onlinecorrector.com.ua</a:t>
            </a:r>
            <a:endParaRPr lang="en-US" sz="1400" dirty="0"/>
          </a:p>
        </p:txBody>
      </p:sp>
      <p:sp>
        <p:nvSpPr>
          <p:cNvPr id="9" name="t_76"/>
          <p:cNvSpPr txBox="1"/>
          <p:nvPr/>
        </p:nvSpPr>
        <p:spPr>
          <a:xfrm>
            <a:off x="960120" y="40690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7D3EA"/>
                </a:solidFill>
              </a:rPr>
              <a:t>Сервіс автоматичної перевірки текстів, створений саме для української мови.</a:t>
            </a:r>
            <a:endParaRPr lang="en-US" sz="1400" dirty="0"/>
          </a:p>
        </p:txBody>
      </p:sp>
      <p:sp>
        <p:nvSpPr>
          <p:cNvPr id="10" name="fact_77"/>
          <p:cNvSpPr/>
          <p:nvPr/>
        </p:nvSpPr>
        <p:spPr>
          <a:xfrm>
            <a:off x="5074920" y="1463040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11" name="t_78"/>
          <p:cNvSpPr txBox="1"/>
          <p:nvPr/>
        </p:nvSpPr>
        <p:spPr>
          <a:xfrm>
            <a:off x="5330952" y="1737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B5"/>
                </a:solidFill>
              </a:rPr>
              <a:t>Тип ресурсу</a:t>
            </a:r>
            <a:endParaRPr lang="en-US" sz="1400" dirty="0"/>
          </a:p>
        </p:txBody>
      </p:sp>
      <p:sp>
        <p:nvSpPr>
          <p:cNvPr id="12" name="t_79"/>
          <p:cNvSpPr txBox="1"/>
          <p:nvPr/>
        </p:nvSpPr>
        <p:spPr>
          <a:xfrm>
            <a:off x="5330952" y="217627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Онлайн-сервіс перевірки правопису, стилю й типографіки</a:t>
            </a:r>
            <a:endParaRPr lang="en-US" sz="1400" dirty="0"/>
          </a:p>
        </p:txBody>
      </p:sp>
      <p:sp>
        <p:nvSpPr>
          <p:cNvPr id="13" name="fact_80"/>
          <p:cNvSpPr/>
          <p:nvPr/>
        </p:nvSpPr>
        <p:spPr>
          <a:xfrm>
            <a:off x="8595360" y="1463040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14" name="t_81"/>
          <p:cNvSpPr txBox="1"/>
          <p:nvPr/>
        </p:nvSpPr>
        <p:spPr>
          <a:xfrm>
            <a:off x="8851392" y="1737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B5"/>
                </a:solidFill>
              </a:rPr>
              <a:t>Формат роботи</a:t>
            </a:r>
            <a:endParaRPr lang="en-US" sz="1400" dirty="0"/>
          </a:p>
        </p:txBody>
      </p:sp>
      <p:sp>
        <p:nvSpPr>
          <p:cNvPr id="15" name="t_82"/>
          <p:cNvSpPr txBox="1"/>
          <p:nvPr/>
        </p:nvSpPr>
        <p:spPr>
          <a:xfrm>
            <a:off x="8851392" y="217627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Розширення для Google Docs, MS Word і браузера; вебверсія</a:t>
            </a:r>
            <a:endParaRPr lang="en-US" sz="1400" dirty="0"/>
          </a:p>
        </p:txBody>
      </p:sp>
      <p:sp>
        <p:nvSpPr>
          <p:cNvPr id="16" name="fact_83"/>
          <p:cNvSpPr/>
          <p:nvPr/>
        </p:nvSpPr>
        <p:spPr>
          <a:xfrm>
            <a:off x="5074920" y="3840480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17" name="t_84"/>
          <p:cNvSpPr txBox="1"/>
          <p:nvPr/>
        </p:nvSpPr>
        <p:spPr>
          <a:xfrm>
            <a:off x="5330952" y="4114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B5"/>
                </a:solidFill>
              </a:rPr>
              <a:t>Мова інтерфейсу</a:t>
            </a:r>
            <a:endParaRPr lang="en-US" sz="1400" dirty="0"/>
          </a:p>
        </p:txBody>
      </p:sp>
      <p:sp>
        <p:nvSpPr>
          <p:cNvPr id="18" name="t_85"/>
          <p:cNvSpPr txBox="1"/>
          <p:nvPr/>
        </p:nvSpPr>
        <p:spPr>
          <a:xfrm>
            <a:off x="5330952" y="455371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Українська; орієнтація на норми українського правопису</a:t>
            </a:r>
            <a:endParaRPr lang="en-US" sz="1400" dirty="0"/>
          </a:p>
        </p:txBody>
      </p:sp>
      <p:sp>
        <p:nvSpPr>
          <p:cNvPr id="19" name="fact_86"/>
          <p:cNvSpPr/>
          <p:nvPr/>
        </p:nvSpPr>
        <p:spPr>
          <a:xfrm>
            <a:off x="8595360" y="3840480"/>
            <a:ext cx="3337560" cy="2103120"/>
          </a:xfrm>
          <a:prstGeom prst="roundRect">
            <a:avLst>
              <a:gd name="adj" fmla="val 3478"/>
            </a:avLst>
          </a:prstGeom>
          <a:solidFill>
            <a:srgbClr val="EEF2FA"/>
          </a:solidFill>
          <a:ln/>
        </p:spPr>
      </p:sp>
      <p:sp>
        <p:nvSpPr>
          <p:cNvPr id="20" name="t_87"/>
          <p:cNvSpPr txBox="1"/>
          <p:nvPr/>
        </p:nvSpPr>
        <p:spPr>
          <a:xfrm>
            <a:off x="8851392" y="4114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B5"/>
                </a:solidFill>
              </a:rPr>
              <a:t>Модель доступу</a:t>
            </a:r>
            <a:endParaRPr lang="en-US" sz="1400" dirty="0"/>
          </a:p>
        </p:txBody>
      </p:sp>
      <p:sp>
        <p:nvSpPr>
          <p:cNvPr id="21" name="t_88"/>
          <p:cNvSpPr txBox="1"/>
          <p:nvPr/>
        </p:nvSpPr>
        <p:spPr>
          <a:xfrm>
            <a:off x="8851392" y="455371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Базова перевірка безкоштовно, розширена — за передплатою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Що саме перевіряє сервіс</a:t>
            </a:r>
            <a:endParaRPr lang="en-US" sz="3200" dirty="0"/>
          </a:p>
        </p:txBody>
      </p:sp>
      <p:sp>
        <p:nvSpPr>
          <p:cNvPr id="3" name="check_89"/>
          <p:cNvSpPr/>
          <p:nvPr/>
        </p:nvSpPr>
        <p:spPr>
          <a:xfrm>
            <a:off x="548640" y="160020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EF2FA"/>
          </a:solidFill>
          <a:ln/>
        </p:spPr>
      </p:sp>
      <p:sp>
        <p:nvSpPr>
          <p:cNvPr id="4" name="badge_90"/>
          <p:cNvSpPr/>
          <p:nvPr/>
        </p:nvSpPr>
        <p:spPr>
          <a:xfrm>
            <a:off x="822960" y="19202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badgeTxt_91"/>
          <p:cNvSpPr txBox="1"/>
          <p:nvPr/>
        </p:nvSpPr>
        <p:spPr>
          <a:xfrm>
            <a:off x="82296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_92"/>
          <p:cNvSpPr txBox="1"/>
          <p:nvPr/>
        </p:nvSpPr>
        <p:spPr>
          <a:xfrm>
            <a:off x="1536192" y="18562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Орфографію</a:t>
            </a:r>
            <a:endParaRPr lang="en-US" sz="1600" dirty="0"/>
          </a:p>
        </p:txBody>
      </p:sp>
      <p:sp>
        <p:nvSpPr>
          <p:cNvPr id="7" name="t_93"/>
          <p:cNvSpPr txBox="1"/>
          <p:nvPr/>
        </p:nvSpPr>
        <p:spPr>
          <a:xfrm>
            <a:off x="1536192" y="2240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Друкарські помилки, хибні форми слів</a:t>
            </a:r>
            <a:endParaRPr lang="en-US" sz="1300" dirty="0"/>
          </a:p>
        </p:txBody>
      </p:sp>
      <p:sp>
        <p:nvSpPr>
          <p:cNvPr id="8" name="check_94"/>
          <p:cNvSpPr/>
          <p:nvPr/>
        </p:nvSpPr>
        <p:spPr>
          <a:xfrm>
            <a:off x="6355080" y="160020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EF2FA"/>
          </a:solidFill>
          <a:ln/>
        </p:spPr>
      </p:sp>
      <p:sp>
        <p:nvSpPr>
          <p:cNvPr id="9" name="badge_95"/>
          <p:cNvSpPr/>
          <p:nvPr/>
        </p:nvSpPr>
        <p:spPr>
          <a:xfrm>
            <a:off x="6629400" y="1920240"/>
            <a:ext cx="566928" cy="56692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0" name="badgeTxt_96"/>
          <p:cNvSpPr txBox="1"/>
          <p:nvPr/>
        </p:nvSpPr>
        <p:spPr>
          <a:xfrm>
            <a:off x="662940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_97"/>
          <p:cNvSpPr txBox="1"/>
          <p:nvPr/>
        </p:nvSpPr>
        <p:spPr>
          <a:xfrm>
            <a:off x="7342632" y="18562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Пунктуацію</a:t>
            </a:r>
            <a:endParaRPr lang="en-US" sz="1600" dirty="0"/>
          </a:p>
        </p:txBody>
      </p:sp>
      <p:sp>
        <p:nvSpPr>
          <p:cNvPr id="12" name="t_98"/>
          <p:cNvSpPr txBox="1"/>
          <p:nvPr/>
        </p:nvSpPr>
        <p:spPr>
          <a:xfrm>
            <a:off x="7342632" y="2240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Коми при вставних словах, у складних реченнях</a:t>
            </a:r>
            <a:endParaRPr lang="en-US" sz="1300" dirty="0"/>
          </a:p>
        </p:txBody>
      </p:sp>
      <p:sp>
        <p:nvSpPr>
          <p:cNvPr id="13" name="check_99"/>
          <p:cNvSpPr/>
          <p:nvPr/>
        </p:nvSpPr>
        <p:spPr>
          <a:xfrm>
            <a:off x="548640" y="3172968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EF2FA"/>
          </a:solidFill>
          <a:ln/>
        </p:spPr>
      </p:sp>
      <p:sp>
        <p:nvSpPr>
          <p:cNvPr id="14" name="badge_100"/>
          <p:cNvSpPr/>
          <p:nvPr/>
        </p:nvSpPr>
        <p:spPr>
          <a:xfrm>
            <a:off x="822960" y="3493008"/>
            <a:ext cx="566928" cy="566928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15" name="badgeTxt_101"/>
          <p:cNvSpPr txBox="1"/>
          <p:nvPr/>
        </p:nvSpPr>
        <p:spPr>
          <a:xfrm>
            <a:off x="822960" y="3493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_102"/>
          <p:cNvSpPr txBox="1"/>
          <p:nvPr/>
        </p:nvSpPr>
        <p:spPr>
          <a:xfrm>
            <a:off x="1536192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Слововживання</a:t>
            </a:r>
            <a:endParaRPr lang="en-US" sz="1600" dirty="0"/>
          </a:p>
        </p:txBody>
      </p:sp>
      <p:sp>
        <p:nvSpPr>
          <p:cNvPr id="17" name="t_103"/>
          <p:cNvSpPr txBox="1"/>
          <p:nvPr/>
        </p:nvSpPr>
        <p:spPr>
          <a:xfrm>
            <a:off x="1536192" y="38130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Суржик і кальки: «приймати участь» → «брати участь»</a:t>
            </a:r>
            <a:endParaRPr lang="en-US" sz="1300" dirty="0"/>
          </a:p>
        </p:txBody>
      </p:sp>
      <p:sp>
        <p:nvSpPr>
          <p:cNvPr id="18" name="check_104"/>
          <p:cNvSpPr/>
          <p:nvPr/>
        </p:nvSpPr>
        <p:spPr>
          <a:xfrm>
            <a:off x="6355080" y="3172968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EF2FA"/>
          </a:solidFill>
          <a:ln/>
        </p:spPr>
      </p:sp>
      <p:sp>
        <p:nvSpPr>
          <p:cNvPr id="19" name="badge_105"/>
          <p:cNvSpPr/>
          <p:nvPr/>
        </p:nvSpPr>
        <p:spPr>
          <a:xfrm>
            <a:off x="6629400" y="3493008"/>
            <a:ext cx="566928" cy="56692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20" name="badgeTxt_106"/>
          <p:cNvSpPr txBox="1"/>
          <p:nvPr/>
        </p:nvSpPr>
        <p:spPr>
          <a:xfrm>
            <a:off x="6629400" y="3493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_107"/>
          <p:cNvSpPr txBox="1"/>
          <p:nvPr/>
        </p:nvSpPr>
        <p:spPr>
          <a:xfrm>
            <a:off x="7342632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Милозвучність</a:t>
            </a:r>
            <a:endParaRPr lang="en-US" sz="1600" dirty="0"/>
          </a:p>
        </p:txBody>
      </p:sp>
      <p:sp>
        <p:nvSpPr>
          <p:cNvPr id="22" name="t_108"/>
          <p:cNvSpPr txBox="1"/>
          <p:nvPr/>
        </p:nvSpPr>
        <p:spPr>
          <a:xfrm>
            <a:off x="7342632" y="38130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Чергування у/в, і/й, з/із/зі</a:t>
            </a:r>
            <a:endParaRPr lang="en-US" sz="1300" dirty="0"/>
          </a:p>
        </p:txBody>
      </p:sp>
      <p:sp>
        <p:nvSpPr>
          <p:cNvPr id="23" name="check_109"/>
          <p:cNvSpPr/>
          <p:nvPr/>
        </p:nvSpPr>
        <p:spPr>
          <a:xfrm>
            <a:off x="548640" y="4745736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EF2FA"/>
          </a:solidFill>
          <a:ln/>
        </p:spPr>
      </p:sp>
      <p:sp>
        <p:nvSpPr>
          <p:cNvPr id="24" name="badge_110"/>
          <p:cNvSpPr/>
          <p:nvPr/>
        </p:nvSpPr>
        <p:spPr>
          <a:xfrm>
            <a:off x="822960" y="5065776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badgeTxt_111"/>
          <p:cNvSpPr txBox="1"/>
          <p:nvPr/>
        </p:nvSpPr>
        <p:spPr>
          <a:xfrm>
            <a:off x="822960" y="5065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_112"/>
          <p:cNvSpPr txBox="1"/>
          <p:nvPr/>
        </p:nvSpPr>
        <p:spPr>
          <a:xfrm>
            <a:off x="1536192" y="5001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Типографіку</a:t>
            </a:r>
            <a:endParaRPr lang="en-US" sz="1600" dirty="0"/>
          </a:p>
        </p:txBody>
      </p:sp>
      <p:sp>
        <p:nvSpPr>
          <p:cNvPr id="27" name="t_113"/>
          <p:cNvSpPr txBox="1"/>
          <p:nvPr/>
        </p:nvSpPr>
        <p:spPr>
          <a:xfrm>
            <a:off x="1536192" y="53858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Тире замість дефіса, лапки-«ялинки», пробіли</a:t>
            </a:r>
            <a:endParaRPr lang="en-US" sz="1300" dirty="0"/>
          </a:p>
        </p:txBody>
      </p:sp>
      <p:sp>
        <p:nvSpPr>
          <p:cNvPr id="28" name="check_114"/>
          <p:cNvSpPr/>
          <p:nvPr/>
        </p:nvSpPr>
        <p:spPr>
          <a:xfrm>
            <a:off x="6355080" y="4745736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EEF2FA"/>
          </a:solidFill>
          <a:ln/>
        </p:spPr>
      </p:sp>
      <p:sp>
        <p:nvSpPr>
          <p:cNvPr id="29" name="badge_115"/>
          <p:cNvSpPr/>
          <p:nvPr/>
        </p:nvSpPr>
        <p:spPr>
          <a:xfrm>
            <a:off x="6629400" y="5065776"/>
            <a:ext cx="566928" cy="56692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30" name="badgeTxt_116"/>
          <p:cNvSpPr txBox="1"/>
          <p:nvPr/>
        </p:nvSpPr>
        <p:spPr>
          <a:xfrm>
            <a:off x="6629400" y="5065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_117"/>
          <p:cNvSpPr txBox="1"/>
          <p:nvPr/>
        </p:nvSpPr>
        <p:spPr>
          <a:xfrm>
            <a:off x="7342632" y="5001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Стиль</a:t>
            </a:r>
            <a:endParaRPr lang="en-US" sz="1600" dirty="0"/>
          </a:p>
        </p:txBody>
      </p:sp>
      <p:sp>
        <p:nvSpPr>
          <p:cNvPr id="32" name="t_118"/>
          <p:cNvSpPr txBox="1"/>
          <p:nvPr/>
        </p:nvSpPr>
        <p:spPr>
          <a:xfrm>
            <a:off x="7342632" y="53858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Канцеляризми, тавтологія, задовгі речення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Як це працює: до і після</a:t>
            </a:r>
            <a:endParaRPr lang="en-US" sz="3200" dirty="0"/>
          </a:p>
        </p:txBody>
      </p:sp>
      <p:sp>
        <p:nvSpPr>
          <p:cNvPr id="3" name="before_119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BEAE8"/>
          </a:solidFill>
          <a:ln/>
        </p:spPr>
      </p:sp>
      <p:sp>
        <p:nvSpPr>
          <p:cNvPr id="4" name="t_120"/>
          <p:cNvSpPr txBox="1"/>
          <p:nvPr/>
        </p:nvSpPr>
        <p:spPr>
          <a:xfrm>
            <a:off x="82296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392B"/>
                </a:solidFill>
              </a:rPr>
              <a:t>БУЛО</a:t>
            </a:r>
            <a:endParaRPr lang="en-US" sz="1200" dirty="0"/>
          </a:p>
        </p:txBody>
      </p:sp>
      <p:sp>
        <p:nvSpPr>
          <p:cNvPr id="5" name="t_121"/>
          <p:cNvSpPr txBox="1"/>
          <p:nvPr/>
        </p:nvSpPr>
        <p:spPr>
          <a:xfrm>
            <a:off x="822960" y="20116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В відповідності до наказу, ми приймаємо участь у заході, котрий проходить 5 травня.</a:t>
            </a:r>
            <a:endParaRPr lang="en-US" sz="1600" dirty="0"/>
          </a:p>
        </p:txBody>
      </p:sp>
      <p:sp>
        <p:nvSpPr>
          <p:cNvPr id="6" name="arrow_122"/>
          <p:cNvSpPr/>
          <p:nvPr/>
        </p:nvSpPr>
        <p:spPr>
          <a:xfrm>
            <a:off x="6062472" y="2103120"/>
            <a:ext cx="566928" cy="502920"/>
          </a:xfrm>
          <a:prstGeom prst="rightArrow">
            <a:avLst/>
          </a:prstGeom>
          <a:solidFill>
            <a:srgbClr val="E58B2B"/>
          </a:solidFill>
          <a:ln/>
        </p:spPr>
      </p:sp>
      <p:sp>
        <p:nvSpPr>
          <p:cNvPr id="7" name="after_123"/>
          <p:cNvSpPr/>
          <p:nvPr/>
        </p:nvSpPr>
        <p:spPr>
          <a:xfrm>
            <a:off x="6766560" y="146304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E6F4EC"/>
          </a:solidFill>
          <a:ln/>
        </p:spPr>
      </p:sp>
      <p:sp>
        <p:nvSpPr>
          <p:cNvPr id="8" name="t_124"/>
          <p:cNvSpPr txBox="1"/>
          <p:nvPr/>
        </p:nvSpPr>
        <p:spPr>
          <a:xfrm>
            <a:off x="704088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9E6B"/>
                </a:solidFill>
              </a:rPr>
              <a:t>СТАЛО</a:t>
            </a:r>
            <a:endParaRPr lang="en-US" sz="1200" dirty="0"/>
          </a:p>
        </p:txBody>
      </p:sp>
      <p:sp>
        <p:nvSpPr>
          <p:cNvPr id="9" name="t_125"/>
          <p:cNvSpPr txBox="1"/>
          <p:nvPr/>
        </p:nvSpPr>
        <p:spPr>
          <a:xfrm>
            <a:off x="7040880" y="2011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Відповідно до наказу ми беремо участь у заході, що відбувається 5 травня.</a:t>
            </a:r>
            <a:endParaRPr lang="en-US" sz="1600" dirty="0"/>
          </a:p>
        </p:txBody>
      </p:sp>
      <p:sp>
        <p:nvSpPr>
          <p:cNvPr id="10" name="t_126"/>
          <p:cNvSpPr txBox="1"/>
          <p:nvPr/>
        </p:nvSpPr>
        <p:spPr>
          <a:xfrm>
            <a:off x="548640" y="3520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Що саме виправив сервіс</a:t>
            </a:r>
            <a:endParaRPr lang="en-US" sz="1700" dirty="0"/>
          </a:p>
        </p:txBody>
      </p:sp>
      <p:sp>
        <p:nvSpPr>
          <p:cNvPr id="11" name="dot_127"/>
          <p:cNvSpPr/>
          <p:nvPr/>
        </p:nvSpPr>
        <p:spPr>
          <a:xfrm>
            <a:off x="548640" y="4133088"/>
            <a:ext cx="164592" cy="16459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_128"/>
          <p:cNvSpPr txBox="1"/>
          <p:nvPr/>
        </p:nvSpPr>
        <p:spPr>
          <a:xfrm>
            <a:off x="868680" y="4023360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«в відповідності до»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—  калька з російської  →  </a:t>
            </a:r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</a:rPr>
              <a:t>відповідно до / згідно з</a:t>
            </a:r>
            <a:endParaRPr lang="en-US" sz="1400" dirty="0"/>
          </a:p>
        </p:txBody>
      </p:sp>
      <p:sp>
        <p:nvSpPr>
          <p:cNvPr id="13" name="dot_129"/>
          <p:cNvSpPr/>
          <p:nvPr/>
        </p:nvSpPr>
        <p:spPr>
          <a:xfrm>
            <a:off x="548640" y="4700016"/>
            <a:ext cx="164592" cy="164592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4" name="t_130"/>
          <p:cNvSpPr txBox="1"/>
          <p:nvPr/>
        </p:nvSpPr>
        <p:spPr>
          <a:xfrm>
            <a:off x="868680" y="4590288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«В відповідності»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—  порушення милозвучності  →  </a:t>
            </a:r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</a:rPr>
              <a:t>У відповідності</a:t>
            </a:r>
            <a:endParaRPr lang="en-US" sz="1400" dirty="0"/>
          </a:p>
        </p:txBody>
      </p:sp>
      <p:sp>
        <p:nvSpPr>
          <p:cNvPr id="15" name="dot_131"/>
          <p:cNvSpPr/>
          <p:nvPr/>
        </p:nvSpPr>
        <p:spPr>
          <a:xfrm>
            <a:off x="548640" y="5266944"/>
            <a:ext cx="164592" cy="164592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16" name="t_132"/>
          <p:cNvSpPr txBox="1"/>
          <p:nvPr/>
        </p:nvSpPr>
        <p:spPr>
          <a:xfrm>
            <a:off x="868680" y="5157216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«приймаємо участь»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—  стійка калька  →  </a:t>
            </a:r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</a:rPr>
              <a:t>беремо участь</a:t>
            </a:r>
            <a:endParaRPr lang="en-US" sz="1400" dirty="0"/>
          </a:p>
        </p:txBody>
      </p:sp>
      <p:sp>
        <p:nvSpPr>
          <p:cNvPr id="17" name="dot_133"/>
          <p:cNvSpPr/>
          <p:nvPr/>
        </p:nvSpPr>
        <p:spPr>
          <a:xfrm>
            <a:off x="548640" y="5833872"/>
            <a:ext cx="164592" cy="164592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_134"/>
          <p:cNvSpPr txBox="1"/>
          <p:nvPr/>
        </p:nvSpPr>
        <p:spPr>
          <a:xfrm>
            <a:off x="868680" y="5724144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«котрий проходить»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—  невдале слововживання  →  </a:t>
            </a:r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</a:rPr>
              <a:t>що відбувається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Переваги сервісу</a:t>
            </a:r>
            <a:endParaRPr lang="en-US" sz="3200" dirty="0"/>
          </a:p>
        </p:txBody>
      </p:sp>
      <p:sp>
        <p:nvSpPr>
          <p:cNvPr id="3" name="ok_135"/>
          <p:cNvSpPr/>
          <p:nvPr/>
        </p:nvSpPr>
        <p:spPr>
          <a:xfrm>
            <a:off x="548640" y="1609344"/>
            <a:ext cx="420624" cy="42062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4" name="t_136"/>
          <p:cNvSpPr txBox="1"/>
          <p:nvPr/>
        </p:nvSpPr>
        <p:spPr>
          <a:xfrm>
            <a:off x="548640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5" name="t_137"/>
          <p:cNvSpPr txBox="1"/>
          <p:nvPr/>
        </p:nvSpPr>
        <p:spPr>
          <a:xfrm>
            <a:off x="1170432" y="155448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Створений для української</a:t>
            </a:r>
            <a:endParaRPr lang="en-US" sz="1600" dirty="0"/>
          </a:p>
        </p:txBody>
      </p:sp>
      <p:sp>
        <p:nvSpPr>
          <p:cNvPr id="6" name="t_138"/>
          <p:cNvSpPr txBox="1"/>
          <p:nvPr/>
        </p:nvSpPr>
        <p:spPr>
          <a:xfrm>
            <a:off x="1170432" y="190195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Не адаптація англомовного інструмента, а власна база правил.</a:t>
            </a:r>
            <a:endParaRPr lang="en-US" sz="1300" dirty="0"/>
          </a:p>
        </p:txBody>
      </p:sp>
      <p:sp>
        <p:nvSpPr>
          <p:cNvPr id="7" name="ok_139"/>
          <p:cNvSpPr/>
          <p:nvPr/>
        </p:nvSpPr>
        <p:spPr>
          <a:xfrm>
            <a:off x="548640" y="2523744"/>
            <a:ext cx="420624" cy="42062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8" name="t_140"/>
          <p:cNvSpPr txBox="1"/>
          <p:nvPr/>
        </p:nvSpPr>
        <p:spPr>
          <a:xfrm>
            <a:off x="548640" y="2523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t_141"/>
          <p:cNvSpPr txBox="1"/>
          <p:nvPr/>
        </p:nvSpPr>
        <p:spPr>
          <a:xfrm>
            <a:off x="1170432" y="246888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Працює там, де ви пишете</a:t>
            </a:r>
            <a:endParaRPr lang="en-US" sz="1600" dirty="0"/>
          </a:p>
        </p:txBody>
      </p:sp>
      <p:sp>
        <p:nvSpPr>
          <p:cNvPr id="10" name="t_142"/>
          <p:cNvSpPr txBox="1"/>
          <p:nvPr/>
        </p:nvSpPr>
        <p:spPr>
          <a:xfrm>
            <a:off x="1170432" y="281635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Вбудовується в Google Docs і Word — текст не треба нікуди копіювати.</a:t>
            </a:r>
            <a:endParaRPr lang="en-US" sz="1300" dirty="0"/>
          </a:p>
        </p:txBody>
      </p:sp>
      <p:sp>
        <p:nvSpPr>
          <p:cNvPr id="11" name="ok_143"/>
          <p:cNvSpPr/>
          <p:nvPr/>
        </p:nvSpPr>
        <p:spPr>
          <a:xfrm>
            <a:off x="548640" y="3438144"/>
            <a:ext cx="420624" cy="42062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2" name="t_144"/>
          <p:cNvSpPr txBox="1"/>
          <p:nvPr/>
        </p:nvSpPr>
        <p:spPr>
          <a:xfrm>
            <a:off x="548640" y="3438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_145"/>
          <p:cNvSpPr txBox="1"/>
          <p:nvPr/>
        </p:nvSpPr>
        <p:spPr>
          <a:xfrm>
            <a:off x="1170432" y="338328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Пояснює помилку</a:t>
            </a:r>
            <a:endParaRPr lang="en-US" sz="1600" dirty="0"/>
          </a:p>
        </p:txBody>
      </p:sp>
      <p:sp>
        <p:nvSpPr>
          <p:cNvPr id="14" name="t_146"/>
          <p:cNvSpPr txBox="1"/>
          <p:nvPr/>
        </p:nvSpPr>
        <p:spPr>
          <a:xfrm>
            <a:off x="1170432" y="373075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Покликається на правило, тож має ще й навчальний ефект.</a:t>
            </a:r>
            <a:endParaRPr lang="en-US" sz="1300" dirty="0"/>
          </a:p>
        </p:txBody>
      </p:sp>
      <p:sp>
        <p:nvSpPr>
          <p:cNvPr id="15" name="ok_147"/>
          <p:cNvSpPr/>
          <p:nvPr/>
        </p:nvSpPr>
        <p:spPr>
          <a:xfrm>
            <a:off x="548640" y="4352544"/>
            <a:ext cx="420624" cy="42062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6" name="t_148"/>
          <p:cNvSpPr txBox="1"/>
          <p:nvPr/>
        </p:nvSpPr>
        <p:spPr>
          <a:xfrm>
            <a:off x="548640" y="4352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_149"/>
          <p:cNvSpPr txBox="1"/>
          <p:nvPr/>
        </p:nvSpPr>
        <p:spPr>
          <a:xfrm>
            <a:off x="1170432" y="429768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Бачить більше за Word</a:t>
            </a:r>
            <a:endParaRPr lang="en-US" sz="1600" dirty="0"/>
          </a:p>
        </p:txBody>
      </p:sp>
      <p:sp>
        <p:nvSpPr>
          <p:cNvPr id="18" name="t_150"/>
          <p:cNvSpPr txBox="1"/>
          <p:nvPr/>
        </p:nvSpPr>
        <p:spPr>
          <a:xfrm>
            <a:off x="1170432" y="464515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Суржик, милозвучність, типографіка — поза межами звичайної перевірки.</a:t>
            </a:r>
            <a:endParaRPr lang="en-US" sz="1300" dirty="0"/>
          </a:p>
        </p:txBody>
      </p:sp>
      <p:sp>
        <p:nvSpPr>
          <p:cNvPr id="19" name="ok_151"/>
          <p:cNvSpPr/>
          <p:nvPr/>
        </p:nvSpPr>
        <p:spPr>
          <a:xfrm>
            <a:off x="548640" y="5266944"/>
            <a:ext cx="420624" cy="420624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20" name="t_152"/>
          <p:cNvSpPr txBox="1"/>
          <p:nvPr/>
        </p:nvSpPr>
        <p:spPr>
          <a:xfrm>
            <a:off x="548640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_153"/>
          <p:cNvSpPr txBox="1"/>
          <p:nvPr/>
        </p:nvSpPr>
        <p:spPr>
          <a:xfrm>
            <a:off x="1170432" y="521208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Пришвидшує вичитку</a:t>
            </a:r>
            <a:endParaRPr lang="en-US" sz="1600" dirty="0"/>
          </a:p>
        </p:txBody>
      </p:sp>
      <p:sp>
        <p:nvSpPr>
          <p:cNvPr id="22" name="t_154"/>
          <p:cNvSpPr txBox="1"/>
          <p:nvPr/>
        </p:nvSpPr>
        <p:spPr>
          <a:xfrm>
            <a:off x="1170432" y="555955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Великий масив тексту очищується від механіки за кілька хвилин.</a:t>
            </a:r>
            <a:endParaRPr lang="en-US" sz="1300" dirty="0"/>
          </a:p>
        </p:txBody>
      </p:sp>
      <p:sp>
        <p:nvSpPr>
          <p:cNvPr id="23" name="quote_155"/>
          <p:cNvSpPr/>
          <p:nvPr/>
        </p:nvSpPr>
        <p:spPr>
          <a:xfrm>
            <a:off x="8183880" y="1554480"/>
            <a:ext cx="3429000" cy="4251960"/>
          </a:xfrm>
          <a:prstGeom prst="roundRect">
            <a:avLst>
              <a:gd name="adj" fmla="val 2133"/>
            </a:avLst>
          </a:prstGeom>
          <a:solidFill>
            <a:srgbClr val="1E2761"/>
          </a:solidFill>
          <a:ln/>
        </p:spPr>
      </p:sp>
      <p:sp>
        <p:nvSpPr>
          <p:cNvPr id="24" name="t_156"/>
          <p:cNvSpPr txBox="1"/>
          <p:nvPr/>
        </p:nvSpPr>
        <p:spPr>
          <a:xfrm>
            <a:off x="8503920" y="1920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58B2B"/>
                </a:solidFill>
              </a:rPr>
              <a:t>Головне</a:t>
            </a:r>
            <a:endParaRPr lang="en-US" sz="1200" dirty="0"/>
          </a:p>
        </p:txBody>
      </p:sp>
      <p:sp>
        <p:nvSpPr>
          <p:cNvPr id="25" name="t_157"/>
          <p:cNvSpPr txBox="1"/>
          <p:nvPr/>
        </p:nvSpPr>
        <p:spPr>
          <a:xfrm>
            <a:off x="8503920" y="2377440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Сервіс не пише за редактора — він знімає з нього механічну роботу та повертає час на зміст.</a:t>
            </a:r>
            <a:endParaRPr lang="en-US" sz="1700" dirty="0"/>
          </a:p>
        </p:txBody>
      </p:sp>
      <p:sp>
        <p:nvSpPr>
          <p:cNvPr id="26" name="rule_158"/>
          <p:cNvSpPr/>
          <p:nvPr/>
        </p:nvSpPr>
        <p:spPr>
          <a:xfrm>
            <a:off x="8503920" y="4434840"/>
            <a:ext cx="1097280" cy="0"/>
          </a:xfrm>
          <a:prstGeom prst="line">
            <a:avLst/>
          </a:prstGeom>
          <a:noFill/>
          <a:ln w="38100">
            <a:solidFill>
              <a:srgbClr val="E58B2B"/>
            </a:solidFill>
            <a:prstDash val="solid"/>
          </a:ln>
        </p:spPr>
      </p:sp>
      <p:sp>
        <p:nvSpPr>
          <p:cNvPr id="27" name="t_159"/>
          <p:cNvSpPr txBox="1"/>
          <p:nvPr/>
        </p:nvSpPr>
        <p:spPr>
          <a:xfrm>
            <a:off x="8503920" y="46177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7D3EA"/>
                </a:solidFill>
              </a:rPr>
              <a:t>Перший фільтр, а не остаточне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Обмеження та ризики</a:t>
            </a:r>
            <a:endParaRPr lang="en-US" sz="3200" dirty="0"/>
          </a:p>
        </p:txBody>
      </p:sp>
      <p:sp>
        <p:nvSpPr>
          <p:cNvPr id="3" name="con_160"/>
          <p:cNvSpPr/>
          <p:nvPr/>
        </p:nvSpPr>
        <p:spPr>
          <a:xfrm>
            <a:off x="548640" y="150876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/>
        </p:spPr>
      </p:sp>
      <p:sp>
        <p:nvSpPr>
          <p:cNvPr id="4" name="warn_161"/>
          <p:cNvSpPr/>
          <p:nvPr/>
        </p:nvSpPr>
        <p:spPr>
          <a:xfrm>
            <a:off x="804672" y="1801368"/>
            <a:ext cx="475488" cy="475488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5" name="t_162"/>
          <p:cNvSpPr txBox="1"/>
          <p:nvPr/>
        </p:nvSpPr>
        <p:spPr>
          <a:xfrm>
            <a:off x="804672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6" name="t_163"/>
          <p:cNvSpPr txBox="1"/>
          <p:nvPr/>
        </p:nvSpPr>
        <p:spPr>
          <a:xfrm>
            <a:off x="1444752" y="169164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Ліміти безкоштовної версії</a:t>
            </a:r>
            <a:endParaRPr lang="en-US" sz="1500" dirty="0"/>
          </a:p>
        </p:txBody>
      </p:sp>
      <p:sp>
        <p:nvSpPr>
          <p:cNvPr id="7" name="t_164"/>
          <p:cNvSpPr txBox="1"/>
          <p:nvPr/>
        </p:nvSpPr>
        <p:spPr>
          <a:xfrm>
            <a:off x="1444752" y="203911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Обмежено кількість перевірок і довжину тексту.</a:t>
            </a:r>
            <a:endParaRPr lang="en-US" sz="1300" dirty="0"/>
          </a:p>
        </p:txBody>
      </p:sp>
      <p:sp>
        <p:nvSpPr>
          <p:cNvPr id="8" name="con_165"/>
          <p:cNvSpPr/>
          <p:nvPr/>
        </p:nvSpPr>
        <p:spPr>
          <a:xfrm>
            <a:off x="6355080" y="150876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/>
        </p:spPr>
      </p:sp>
      <p:sp>
        <p:nvSpPr>
          <p:cNvPr id="9" name="warn_166"/>
          <p:cNvSpPr/>
          <p:nvPr/>
        </p:nvSpPr>
        <p:spPr>
          <a:xfrm>
            <a:off x="6611112" y="1801368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_167"/>
          <p:cNvSpPr txBox="1"/>
          <p:nvPr/>
        </p:nvSpPr>
        <p:spPr>
          <a:xfrm>
            <a:off x="6611112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11" name="t_168"/>
          <p:cNvSpPr txBox="1"/>
          <p:nvPr/>
        </p:nvSpPr>
        <p:spPr>
          <a:xfrm>
            <a:off x="7251192" y="169164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Не розпізнає контекст</a:t>
            </a:r>
            <a:endParaRPr lang="en-US" sz="1500" dirty="0"/>
          </a:p>
        </p:txBody>
      </p:sp>
      <p:sp>
        <p:nvSpPr>
          <p:cNvPr id="12" name="t_169"/>
          <p:cNvSpPr txBox="1"/>
          <p:nvPr/>
        </p:nvSpPr>
        <p:spPr>
          <a:xfrm>
            <a:off x="7251192" y="203911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Омоніми, іронія, свідомий авторський стиль лишаються поза увагою.</a:t>
            </a:r>
            <a:endParaRPr lang="en-US" sz="1300" dirty="0"/>
          </a:p>
        </p:txBody>
      </p:sp>
      <p:sp>
        <p:nvSpPr>
          <p:cNvPr id="13" name="con_170"/>
          <p:cNvSpPr/>
          <p:nvPr/>
        </p:nvSpPr>
        <p:spPr>
          <a:xfrm>
            <a:off x="548640" y="2807208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/>
        </p:spPr>
      </p:sp>
      <p:sp>
        <p:nvSpPr>
          <p:cNvPr id="14" name="warn_171"/>
          <p:cNvSpPr/>
          <p:nvPr/>
        </p:nvSpPr>
        <p:spPr>
          <a:xfrm>
            <a:off x="804672" y="3099816"/>
            <a:ext cx="475488" cy="475488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15" name="t_172"/>
          <p:cNvSpPr txBox="1"/>
          <p:nvPr/>
        </p:nvSpPr>
        <p:spPr>
          <a:xfrm>
            <a:off x="804672" y="3099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16" name="t_173"/>
          <p:cNvSpPr txBox="1"/>
          <p:nvPr/>
        </p:nvSpPr>
        <p:spPr>
          <a:xfrm>
            <a:off x="1444752" y="29900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Хибні спрацювання</a:t>
            </a:r>
            <a:endParaRPr lang="en-US" sz="1500" dirty="0"/>
          </a:p>
        </p:txBody>
      </p:sp>
      <p:sp>
        <p:nvSpPr>
          <p:cNvPr id="17" name="t_174"/>
          <p:cNvSpPr txBox="1"/>
          <p:nvPr/>
        </p:nvSpPr>
        <p:spPr>
          <a:xfrm>
            <a:off x="1444752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Може позначити помилкою доречне слово або термін.</a:t>
            </a:r>
            <a:endParaRPr lang="en-US" sz="1300" dirty="0"/>
          </a:p>
        </p:txBody>
      </p:sp>
      <p:sp>
        <p:nvSpPr>
          <p:cNvPr id="18" name="con_175"/>
          <p:cNvSpPr/>
          <p:nvPr/>
        </p:nvSpPr>
        <p:spPr>
          <a:xfrm>
            <a:off x="6355080" y="2807208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/>
        </p:spPr>
      </p:sp>
      <p:sp>
        <p:nvSpPr>
          <p:cNvPr id="19" name="warn_176"/>
          <p:cNvSpPr/>
          <p:nvPr/>
        </p:nvSpPr>
        <p:spPr>
          <a:xfrm>
            <a:off x="6611112" y="3099816"/>
            <a:ext cx="475488" cy="47548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0" name="t_177"/>
          <p:cNvSpPr txBox="1"/>
          <p:nvPr/>
        </p:nvSpPr>
        <p:spPr>
          <a:xfrm>
            <a:off x="6611112" y="3099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21" name="t_178"/>
          <p:cNvSpPr txBox="1"/>
          <p:nvPr/>
        </p:nvSpPr>
        <p:spPr>
          <a:xfrm>
            <a:off x="7251192" y="29900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Не перевіряє зміст</a:t>
            </a:r>
            <a:endParaRPr lang="en-US" sz="1500" dirty="0"/>
          </a:p>
        </p:txBody>
      </p:sp>
      <p:sp>
        <p:nvSpPr>
          <p:cNvPr id="22" name="t_179"/>
          <p:cNvSpPr txBox="1"/>
          <p:nvPr/>
        </p:nvSpPr>
        <p:spPr>
          <a:xfrm>
            <a:off x="7251192" y="333756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Фактаж, логіка, структура — зона відповідальності редактора.</a:t>
            </a:r>
            <a:endParaRPr lang="en-US" sz="1300" dirty="0"/>
          </a:p>
        </p:txBody>
      </p:sp>
      <p:sp>
        <p:nvSpPr>
          <p:cNvPr id="23" name="con_180"/>
          <p:cNvSpPr/>
          <p:nvPr/>
        </p:nvSpPr>
        <p:spPr>
          <a:xfrm>
            <a:off x="548640" y="4105656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/>
        </p:spPr>
      </p:sp>
      <p:sp>
        <p:nvSpPr>
          <p:cNvPr id="24" name="warn_181"/>
          <p:cNvSpPr/>
          <p:nvPr/>
        </p:nvSpPr>
        <p:spPr>
          <a:xfrm>
            <a:off x="804672" y="4398264"/>
            <a:ext cx="475488" cy="475488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25" name="t_182"/>
          <p:cNvSpPr txBox="1"/>
          <p:nvPr/>
        </p:nvSpPr>
        <p:spPr>
          <a:xfrm>
            <a:off x="804672" y="4398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26" name="t_183"/>
          <p:cNvSpPr txBox="1"/>
          <p:nvPr/>
        </p:nvSpPr>
        <p:spPr>
          <a:xfrm>
            <a:off x="1444752" y="4288536"/>
            <a:ext cx="9875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Питання конфіденційності</a:t>
            </a:r>
            <a:endParaRPr lang="en-US" sz="1500" dirty="0"/>
          </a:p>
        </p:txBody>
      </p:sp>
      <p:sp>
        <p:nvSpPr>
          <p:cNvPr id="27" name="t_184"/>
          <p:cNvSpPr txBox="1"/>
          <p:nvPr/>
        </p:nvSpPr>
        <p:spPr>
          <a:xfrm>
            <a:off x="1444752" y="46360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Текст передається на сервер і потребує інтернету.</a:t>
            </a:r>
            <a:endParaRPr lang="en-US" sz="1300" dirty="0"/>
          </a:p>
        </p:txBody>
      </p:sp>
      <p:sp>
        <p:nvSpPr>
          <p:cNvPr id="28" name="callout_185"/>
          <p:cNvSpPr/>
          <p:nvPr/>
        </p:nvSpPr>
        <p:spPr>
          <a:xfrm>
            <a:off x="548640" y="544068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E2761"/>
          </a:solidFill>
          <a:ln/>
        </p:spPr>
      </p:sp>
      <p:sp>
        <p:nvSpPr>
          <p:cNvPr id="29" name="t_186"/>
          <p:cNvSpPr txBox="1"/>
          <p:nvPr/>
        </p:nvSpPr>
        <p:spPr>
          <a:xfrm>
            <a:off x="868680" y="544068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Застереження: автоматична перевірка — це перший фільтр, а не остаточне рішення. Останнє слово завжди за редактором.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Порівняння з аналогами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377440"/>
                <a:gridCol w="2377440"/>
                <a:gridCol w="23774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Критерій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OnlineCorrector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LanguageTool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Перевірка у Word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Підтримка української мови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повна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базова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базова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Виявлення суржику й кальок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так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частково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ні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Милозвучність (у/в, і/й)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так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ні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ні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Типографіка (тире, лапки)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так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частково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частково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Інтеграція з Google Docs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так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9E6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так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ні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Безкоштовний доступ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з лімітом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з лімітом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6213E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у складі пакета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_187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F6FB5"/>
                </a:solidFill>
              </a:rPr>
              <a:t>Висновок: за роботою саме з українським текстом OnlineCorrector виграє в усіх ключових критеріях.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Алгоритм роботи редактора із сервісом</a:t>
            </a:r>
            <a:endParaRPr lang="en-US" sz="3200" dirty="0"/>
          </a:p>
        </p:txBody>
      </p:sp>
      <p:sp>
        <p:nvSpPr>
          <p:cNvPr id="3" name="step_188"/>
          <p:cNvSpPr/>
          <p:nvPr/>
        </p:nvSpPr>
        <p:spPr>
          <a:xfrm>
            <a:off x="548640" y="16459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EEF2FA"/>
          </a:solidFill>
          <a:ln/>
        </p:spPr>
      </p:sp>
      <p:sp>
        <p:nvSpPr>
          <p:cNvPr id="4" name="badge_189"/>
          <p:cNvSpPr/>
          <p:nvPr/>
        </p:nvSpPr>
        <p:spPr>
          <a:xfrm>
            <a:off x="804672" y="1901952"/>
            <a:ext cx="475488" cy="47548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5" name="badgeTxt_190"/>
          <p:cNvSpPr txBox="1"/>
          <p:nvPr/>
        </p:nvSpPr>
        <p:spPr>
          <a:xfrm>
            <a:off x="804672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_191"/>
          <p:cNvSpPr txBox="1"/>
          <p:nvPr/>
        </p:nvSpPr>
        <p:spPr>
          <a:xfrm>
            <a:off x="1417320" y="190195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3E"/>
                </a:solidFill>
              </a:rPr>
              <a:t>Чернетка</a:t>
            </a:r>
            <a:endParaRPr lang="en-US" sz="1600" dirty="0"/>
          </a:p>
        </p:txBody>
      </p:sp>
      <p:sp>
        <p:nvSpPr>
          <p:cNvPr id="7" name="t_192"/>
          <p:cNvSpPr txBox="1"/>
          <p:nvPr/>
        </p:nvSpPr>
        <p:spPr>
          <a:xfrm>
            <a:off x="804672" y="2560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Автор здає текст</a:t>
            </a:r>
            <a:endParaRPr lang="en-US" sz="1300" dirty="0"/>
          </a:p>
        </p:txBody>
      </p:sp>
      <p:sp>
        <p:nvSpPr>
          <p:cNvPr id="8" name="arrow_193"/>
          <p:cNvSpPr/>
          <p:nvPr/>
        </p:nvSpPr>
        <p:spPr>
          <a:xfrm>
            <a:off x="4142232" y="2395728"/>
            <a:ext cx="228600" cy="274320"/>
          </a:xfrm>
          <a:prstGeom prst="rightArrow">
            <a:avLst/>
          </a:prstGeom>
          <a:solidFill>
            <a:srgbClr val="6B7A90"/>
          </a:solidFill>
          <a:ln/>
        </p:spPr>
      </p:sp>
      <p:sp>
        <p:nvSpPr>
          <p:cNvPr id="9" name="step_194"/>
          <p:cNvSpPr/>
          <p:nvPr/>
        </p:nvSpPr>
        <p:spPr>
          <a:xfrm>
            <a:off x="4434840" y="16459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1E2761"/>
          </a:solidFill>
          <a:ln/>
        </p:spPr>
      </p:sp>
      <p:sp>
        <p:nvSpPr>
          <p:cNvPr id="10" name="badge_195"/>
          <p:cNvSpPr/>
          <p:nvPr/>
        </p:nvSpPr>
        <p:spPr>
          <a:xfrm>
            <a:off x="4690872" y="1901952"/>
            <a:ext cx="475488" cy="475488"/>
          </a:xfrm>
          <a:prstGeom prst="ellipse">
            <a:avLst/>
          </a:prstGeom>
          <a:solidFill>
            <a:srgbClr val="E58B2B"/>
          </a:solidFill>
          <a:ln/>
        </p:spPr>
      </p:sp>
      <p:sp>
        <p:nvSpPr>
          <p:cNvPr id="11" name="badgeTxt_196"/>
          <p:cNvSpPr txBox="1"/>
          <p:nvPr/>
        </p:nvSpPr>
        <p:spPr>
          <a:xfrm>
            <a:off x="4690872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_197"/>
          <p:cNvSpPr txBox="1"/>
          <p:nvPr/>
        </p:nvSpPr>
        <p:spPr>
          <a:xfrm>
            <a:off x="5303520" y="190195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Автоперевірка</a:t>
            </a:r>
            <a:endParaRPr lang="en-US" sz="1600" dirty="0"/>
          </a:p>
        </p:txBody>
      </p:sp>
      <p:sp>
        <p:nvSpPr>
          <p:cNvPr id="13" name="t_198"/>
          <p:cNvSpPr txBox="1"/>
          <p:nvPr/>
        </p:nvSpPr>
        <p:spPr>
          <a:xfrm>
            <a:off x="4690872" y="2560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3EA"/>
                </a:solidFill>
              </a:rPr>
              <a:t>Сервіс знімає механічні помилки</a:t>
            </a:r>
            <a:endParaRPr lang="en-US" sz="1300" dirty="0"/>
          </a:p>
        </p:txBody>
      </p:sp>
      <p:sp>
        <p:nvSpPr>
          <p:cNvPr id="14" name="arrow_199"/>
          <p:cNvSpPr/>
          <p:nvPr/>
        </p:nvSpPr>
        <p:spPr>
          <a:xfrm>
            <a:off x="8028432" y="2395728"/>
            <a:ext cx="228600" cy="274320"/>
          </a:xfrm>
          <a:prstGeom prst="rightArrow">
            <a:avLst/>
          </a:prstGeom>
          <a:solidFill>
            <a:srgbClr val="6B7A90"/>
          </a:solidFill>
          <a:ln/>
        </p:spPr>
      </p:sp>
      <p:sp>
        <p:nvSpPr>
          <p:cNvPr id="15" name="step_200"/>
          <p:cNvSpPr/>
          <p:nvPr/>
        </p:nvSpPr>
        <p:spPr>
          <a:xfrm>
            <a:off x="8321040" y="16459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EEF2FA"/>
          </a:solidFill>
          <a:ln/>
        </p:spPr>
      </p:sp>
      <p:sp>
        <p:nvSpPr>
          <p:cNvPr id="16" name="badge_201"/>
          <p:cNvSpPr/>
          <p:nvPr/>
        </p:nvSpPr>
        <p:spPr>
          <a:xfrm>
            <a:off x="8577072" y="1901952"/>
            <a:ext cx="475488" cy="47548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7" name="badgeTxt_202"/>
          <p:cNvSpPr txBox="1"/>
          <p:nvPr/>
        </p:nvSpPr>
        <p:spPr>
          <a:xfrm>
            <a:off x="8577072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_203"/>
          <p:cNvSpPr txBox="1"/>
          <p:nvPr/>
        </p:nvSpPr>
        <p:spPr>
          <a:xfrm>
            <a:off x="9189720" y="190195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3E"/>
                </a:solidFill>
              </a:rPr>
              <a:t>Редагування</a:t>
            </a:r>
            <a:endParaRPr lang="en-US" sz="1600" dirty="0"/>
          </a:p>
        </p:txBody>
      </p:sp>
      <p:sp>
        <p:nvSpPr>
          <p:cNvPr id="19" name="t_204"/>
          <p:cNvSpPr txBox="1"/>
          <p:nvPr/>
        </p:nvSpPr>
        <p:spPr>
          <a:xfrm>
            <a:off x="8577072" y="25603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Зміст, логіка, стиль</a:t>
            </a:r>
            <a:endParaRPr lang="en-US" sz="1300" dirty="0"/>
          </a:p>
        </p:txBody>
      </p:sp>
      <p:sp>
        <p:nvSpPr>
          <p:cNvPr id="20" name="step_205"/>
          <p:cNvSpPr/>
          <p:nvPr/>
        </p:nvSpPr>
        <p:spPr>
          <a:xfrm>
            <a:off x="548640" y="37947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EEF2FA"/>
          </a:solidFill>
          <a:ln/>
        </p:spPr>
      </p:sp>
      <p:sp>
        <p:nvSpPr>
          <p:cNvPr id="21" name="badge_206"/>
          <p:cNvSpPr/>
          <p:nvPr/>
        </p:nvSpPr>
        <p:spPr>
          <a:xfrm>
            <a:off x="804672" y="4050792"/>
            <a:ext cx="475488" cy="47548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22" name="badgeTxt_207"/>
          <p:cNvSpPr txBox="1"/>
          <p:nvPr/>
        </p:nvSpPr>
        <p:spPr>
          <a:xfrm>
            <a:off x="804672" y="4050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_208"/>
          <p:cNvSpPr txBox="1"/>
          <p:nvPr/>
        </p:nvSpPr>
        <p:spPr>
          <a:xfrm>
            <a:off x="1417320" y="405079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3E"/>
                </a:solidFill>
              </a:rPr>
              <a:t>Перевірка фактів</a:t>
            </a:r>
            <a:endParaRPr lang="en-US" sz="1600" dirty="0"/>
          </a:p>
        </p:txBody>
      </p:sp>
      <p:sp>
        <p:nvSpPr>
          <p:cNvPr id="24" name="t_209"/>
          <p:cNvSpPr txBox="1"/>
          <p:nvPr/>
        </p:nvSpPr>
        <p:spPr>
          <a:xfrm>
            <a:off x="804672" y="4709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Словники, довідники, джерела</a:t>
            </a:r>
            <a:endParaRPr lang="en-US" sz="1300" dirty="0"/>
          </a:p>
        </p:txBody>
      </p:sp>
      <p:sp>
        <p:nvSpPr>
          <p:cNvPr id="25" name="arrow_210"/>
          <p:cNvSpPr/>
          <p:nvPr/>
        </p:nvSpPr>
        <p:spPr>
          <a:xfrm>
            <a:off x="4142232" y="4544568"/>
            <a:ext cx="228600" cy="274320"/>
          </a:xfrm>
          <a:prstGeom prst="rightArrow">
            <a:avLst/>
          </a:prstGeom>
          <a:solidFill>
            <a:srgbClr val="6B7A90"/>
          </a:solidFill>
          <a:ln/>
        </p:spPr>
      </p:sp>
      <p:sp>
        <p:nvSpPr>
          <p:cNvPr id="26" name="step_211"/>
          <p:cNvSpPr/>
          <p:nvPr/>
        </p:nvSpPr>
        <p:spPr>
          <a:xfrm>
            <a:off x="4434840" y="37947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EEF2FA"/>
          </a:solidFill>
          <a:ln/>
        </p:spPr>
      </p:sp>
      <p:sp>
        <p:nvSpPr>
          <p:cNvPr id="27" name="badge_212"/>
          <p:cNvSpPr/>
          <p:nvPr/>
        </p:nvSpPr>
        <p:spPr>
          <a:xfrm>
            <a:off x="4690872" y="4050792"/>
            <a:ext cx="475488" cy="47548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28" name="badgeTxt_213"/>
          <p:cNvSpPr txBox="1"/>
          <p:nvPr/>
        </p:nvSpPr>
        <p:spPr>
          <a:xfrm>
            <a:off x="4690872" y="4050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_214"/>
          <p:cNvSpPr txBox="1"/>
          <p:nvPr/>
        </p:nvSpPr>
        <p:spPr>
          <a:xfrm>
            <a:off x="5303520" y="405079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3E"/>
                </a:solidFill>
              </a:rPr>
              <a:t>Коректура</a:t>
            </a:r>
            <a:endParaRPr lang="en-US" sz="1600" dirty="0"/>
          </a:p>
        </p:txBody>
      </p:sp>
      <p:sp>
        <p:nvSpPr>
          <p:cNvPr id="30" name="t_215"/>
          <p:cNvSpPr txBox="1"/>
          <p:nvPr/>
        </p:nvSpPr>
        <p:spPr>
          <a:xfrm>
            <a:off x="4690872" y="4709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Фінальна вичитка «людським оком»</a:t>
            </a:r>
            <a:endParaRPr lang="en-US" sz="1300" dirty="0"/>
          </a:p>
        </p:txBody>
      </p:sp>
      <p:sp>
        <p:nvSpPr>
          <p:cNvPr id="31" name="arrow_216"/>
          <p:cNvSpPr/>
          <p:nvPr/>
        </p:nvSpPr>
        <p:spPr>
          <a:xfrm>
            <a:off x="8028432" y="4544568"/>
            <a:ext cx="228600" cy="274320"/>
          </a:xfrm>
          <a:prstGeom prst="rightArrow">
            <a:avLst/>
          </a:prstGeom>
          <a:solidFill>
            <a:srgbClr val="6B7A90"/>
          </a:solidFill>
          <a:ln/>
        </p:spPr>
      </p:sp>
      <p:sp>
        <p:nvSpPr>
          <p:cNvPr id="32" name="step_217"/>
          <p:cNvSpPr/>
          <p:nvPr/>
        </p:nvSpPr>
        <p:spPr>
          <a:xfrm>
            <a:off x="8321040" y="37947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EEF2FA"/>
          </a:solidFill>
          <a:ln/>
        </p:spPr>
      </p:sp>
      <p:sp>
        <p:nvSpPr>
          <p:cNvPr id="33" name="badge_218"/>
          <p:cNvSpPr/>
          <p:nvPr/>
        </p:nvSpPr>
        <p:spPr>
          <a:xfrm>
            <a:off x="8577072" y="4050792"/>
            <a:ext cx="475488" cy="475488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34" name="badgeTxt_219"/>
          <p:cNvSpPr txBox="1"/>
          <p:nvPr/>
        </p:nvSpPr>
        <p:spPr>
          <a:xfrm>
            <a:off x="8577072" y="4050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5" name="t_220"/>
          <p:cNvSpPr txBox="1"/>
          <p:nvPr/>
        </p:nvSpPr>
        <p:spPr>
          <a:xfrm>
            <a:off x="9189720" y="405079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3E"/>
                </a:solidFill>
              </a:rPr>
              <a:t>Верстка й випуск</a:t>
            </a:r>
            <a:endParaRPr lang="en-US" sz="1600" dirty="0"/>
          </a:p>
        </p:txBody>
      </p:sp>
      <p:sp>
        <p:nvSpPr>
          <p:cNvPr id="36" name="t_221"/>
          <p:cNvSpPr txBox="1"/>
          <p:nvPr/>
        </p:nvSpPr>
        <p:spPr>
          <a:xfrm>
            <a:off x="8577072" y="47091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Текст іде до читача</a:t>
            </a:r>
            <a:endParaRPr lang="en-US" sz="1300" dirty="0"/>
          </a:p>
        </p:txBody>
      </p:sp>
      <p:sp>
        <p:nvSpPr>
          <p:cNvPr id="37" name="t_22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B5"/>
                </a:solidFill>
              </a:rPr>
              <a:t>Сервіс працює на другому кроці — і не скасовує ані третього, ані п'ятого.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Практичні поради</a:t>
            </a:r>
            <a:endParaRPr lang="en-US" sz="3200" dirty="0"/>
          </a:p>
        </p:txBody>
      </p:sp>
      <p:sp>
        <p:nvSpPr>
          <p:cNvPr id="3" name="tip_223"/>
          <p:cNvSpPr/>
          <p:nvPr/>
        </p:nvSpPr>
        <p:spPr>
          <a:xfrm>
            <a:off x="548640" y="16002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EEF2FA"/>
          </a:solidFill>
          <a:ln/>
        </p:spPr>
      </p:sp>
      <p:sp>
        <p:nvSpPr>
          <p:cNvPr id="4" name="badge_224"/>
          <p:cNvSpPr/>
          <p:nvPr/>
        </p:nvSpPr>
        <p:spPr>
          <a:xfrm>
            <a:off x="804672" y="18562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badgeTxt_225"/>
          <p:cNvSpPr txBox="1"/>
          <p:nvPr/>
        </p:nvSpPr>
        <p:spPr>
          <a:xfrm>
            <a:off x="804672" y="1856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_226"/>
          <p:cNvSpPr txBox="1"/>
          <p:nvPr/>
        </p:nvSpPr>
        <p:spPr>
          <a:xfrm>
            <a:off x="804672" y="24688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</a:rPr>
              <a:t>Вмикайте на старті</a:t>
            </a:r>
            <a:endParaRPr lang="en-US" sz="1500" dirty="0"/>
          </a:p>
        </p:txBody>
      </p:sp>
      <p:sp>
        <p:nvSpPr>
          <p:cNvPr id="7" name="t_227"/>
          <p:cNvSpPr txBox="1"/>
          <p:nvPr/>
        </p:nvSpPr>
        <p:spPr>
          <a:xfrm>
            <a:off x="804672" y="2834640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Запускайте перевірку до власної вичитки — заощадите цілий прохід.</a:t>
            </a:r>
            <a:endParaRPr lang="en-US" sz="1300" dirty="0"/>
          </a:p>
        </p:txBody>
      </p:sp>
      <p:sp>
        <p:nvSpPr>
          <p:cNvPr id="8" name="tip_228"/>
          <p:cNvSpPr/>
          <p:nvPr/>
        </p:nvSpPr>
        <p:spPr>
          <a:xfrm>
            <a:off x="4434840" y="16002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EEF2FA"/>
          </a:solidFill>
          <a:ln/>
        </p:spPr>
      </p:sp>
      <p:sp>
        <p:nvSpPr>
          <p:cNvPr id="9" name="badge_229"/>
          <p:cNvSpPr/>
          <p:nvPr/>
        </p:nvSpPr>
        <p:spPr>
          <a:xfrm>
            <a:off x="4690872" y="18562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badgeTxt_230"/>
          <p:cNvSpPr txBox="1"/>
          <p:nvPr/>
        </p:nvSpPr>
        <p:spPr>
          <a:xfrm>
            <a:off x="4690872" y="1856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_231"/>
          <p:cNvSpPr txBox="1"/>
          <p:nvPr/>
        </p:nvSpPr>
        <p:spPr>
          <a:xfrm>
            <a:off x="4690872" y="24688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</a:rPr>
              <a:t>Ведіть словник винятків</a:t>
            </a:r>
            <a:endParaRPr lang="en-US" sz="1500" dirty="0"/>
          </a:p>
        </p:txBody>
      </p:sp>
      <p:sp>
        <p:nvSpPr>
          <p:cNvPr id="12" name="t_232"/>
          <p:cNvSpPr txBox="1"/>
          <p:nvPr/>
        </p:nvSpPr>
        <p:spPr>
          <a:xfrm>
            <a:off x="4690872" y="2834640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Прізвища, терміни, назви — щоб прибрати хибні спрацювання.</a:t>
            </a:r>
            <a:endParaRPr lang="en-US" sz="1300" dirty="0"/>
          </a:p>
        </p:txBody>
      </p:sp>
      <p:sp>
        <p:nvSpPr>
          <p:cNvPr id="13" name="tip_233"/>
          <p:cNvSpPr/>
          <p:nvPr/>
        </p:nvSpPr>
        <p:spPr>
          <a:xfrm>
            <a:off x="8321040" y="16002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EEF2FA"/>
          </a:solidFill>
          <a:ln/>
        </p:spPr>
      </p:sp>
      <p:sp>
        <p:nvSpPr>
          <p:cNvPr id="14" name="badge_234"/>
          <p:cNvSpPr/>
          <p:nvPr/>
        </p:nvSpPr>
        <p:spPr>
          <a:xfrm>
            <a:off x="8577072" y="185623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badgeTxt_235"/>
          <p:cNvSpPr txBox="1"/>
          <p:nvPr/>
        </p:nvSpPr>
        <p:spPr>
          <a:xfrm>
            <a:off x="8577072" y="1856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_236"/>
          <p:cNvSpPr txBox="1"/>
          <p:nvPr/>
        </p:nvSpPr>
        <p:spPr>
          <a:xfrm>
            <a:off x="8577072" y="24688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</a:rPr>
              <a:t>Не приймайте правки пакетно</a:t>
            </a:r>
            <a:endParaRPr lang="en-US" sz="1500" dirty="0"/>
          </a:p>
        </p:txBody>
      </p:sp>
      <p:sp>
        <p:nvSpPr>
          <p:cNvPr id="17" name="t_237"/>
          <p:cNvSpPr txBox="1"/>
          <p:nvPr/>
        </p:nvSpPr>
        <p:spPr>
          <a:xfrm>
            <a:off x="8577072" y="2834640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Переглядайте кожну пропозицію окремо.</a:t>
            </a:r>
            <a:endParaRPr lang="en-US" sz="1300" dirty="0"/>
          </a:p>
        </p:txBody>
      </p:sp>
      <p:sp>
        <p:nvSpPr>
          <p:cNvPr id="18" name="tip_238"/>
          <p:cNvSpPr/>
          <p:nvPr/>
        </p:nvSpPr>
        <p:spPr>
          <a:xfrm>
            <a:off x="548640" y="384048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EEF2FA"/>
          </a:solidFill>
          <a:ln/>
        </p:spPr>
      </p:sp>
      <p:sp>
        <p:nvSpPr>
          <p:cNvPr id="19" name="badge_239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badgeTxt_240"/>
          <p:cNvSpPr txBox="1"/>
          <p:nvPr/>
        </p:nvSpPr>
        <p:spPr>
          <a:xfrm>
            <a:off x="804672" y="4096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_241"/>
          <p:cNvSpPr txBox="1"/>
          <p:nvPr/>
        </p:nvSpPr>
        <p:spPr>
          <a:xfrm>
            <a:off x="804672" y="4709160"/>
            <a:ext cx="4974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</a:rPr>
              <a:t>Звіряйтеся зі словниками</a:t>
            </a:r>
            <a:endParaRPr lang="en-US" sz="1500" dirty="0"/>
          </a:p>
        </p:txBody>
      </p:sp>
      <p:sp>
        <p:nvSpPr>
          <p:cNvPr id="22" name="t_242"/>
          <p:cNvSpPr txBox="1"/>
          <p:nvPr/>
        </p:nvSpPr>
        <p:spPr>
          <a:xfrm>
            <a:off x="804672" y="507492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У спірних випадках — СУМ-20 і «Словники України».</a:t>
            </a:r>
            <a:endParaRPr lang="en-US" sz="1300" dirty="0"/>
          </a:p>
        </p:txBody>
      </p:sp>
      <p:sp>
        <p:nvSpPr>
          <p:cNvPr id="23" name="tip_243"/>
          <p:cNvSpPr/>
          <p:nvPr/>
        </p:nvSpPr>
        <p:spPr>
          <a:xfrm>
            <a:off x="6355080" y="384048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EEF2FA"/>
          </a:solidFill>
          <a:ln/>
        </p:spPr>
      </p:sp>
      <p:sp>
        <p:nvSpPr>
          <p:cNvPr id="24" name="badge_244"/>
          <p:cNvSpPr/>
          <p:nvPr/>
        </p:nvSpPr>
        <p:spPr>
          <a:xfrm>
            <a:off x="6611112" y="4096512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badgeTxt_245"/>
          <p:cNvSpPr txBox="1"/>
          <p:nvPr/>
        </p:nvSpPr>
        <p:spPr>
          <a:xfrm>
            <a:off x="6611112" y="4096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_246"/>
          <p:cNvSpPr txBox="1"/>
          <p:nvPr/>
        </p:nvSpPr>
        <p:spPr>
          <a:xfrm>
            <a:off x="6611112" y="4709160"/>
            <a:ext cx="4974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3E"/>
                </a:solidFill>
              </a:rPr>
              <a:t>Бережіть конфіденційність</a:t>
            </a:r>
            <a:endParaRPr lang="en-US" sz="1500" dirty="0"/>
          </a:p>
        </p:txBody>
      </p:sp>
      <p:sp>
        <p:nvSpPr>
          <p:cNvPr id="27" name="t_247"/>
          <p:cNvSpPr txBox="1"/>
          <p:nvPr/>
        </p:nvSpPr>
        <p:spPr>
          <a:xfrm>
            <a:off x="6611112" y="507492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Для службових текстів користуйтеся офлайн-перевіркою.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Висновки</a:t>
            </a:r>
            <a:endParaRPr lang="en-US" sz="3200" dirty="0"/>
          </a:p>
        </p:txBody>
      </p:sp>
      <p:sp>
        <p:nvSpPr>
          <p:cNvPr id="3" name="num_248"/>
          <p:cNvSpPr txBox="1"/>
          <p:nvPr/>
        </p:nvSpPr>
        <p:spPr>
          <a:xfrm>
            <a:off x="548640" y="16002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_249"/>
          <p:cNvSpPr txBox="1"/>
          <p:nvPr/>
        </p:nvSpPr>
        <p:spPr>
          <a:xfrm>
            <a:off x="1325880" y="1600200"/>
            <a:ext cx="7178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13E"/>
                </a:solidFill>
              </a:rPr>
              <a:t>Онлайн-сервіси стали робочим інструментом редактора, а не допоміжною іграшкою.</a:t>
            </a:r>
            <a:endParaRPr lang="en-US" sz="1600" dirty="0"/>
          </a:p>
        </p:txBody>
      </p:sp>
      <p:sp>
        <p:nvSpPr>
          <p:cNvPr id="5" name="num_250"/>
          <p:cNvSpPr txBox="1"/>
          <p:nvPr/>
        </p:nvSpPr>
        <p:spPr>
          <a:xfrm>
            <a:off x="548640" y="25146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6" name="t_251"/>
          <p:cNvSpPr txBox="1"/>
          <p:nvPr/>
        </p:nvSpPr>
        <p:spPr>
          <a:xfrm>
            <a:off x="1325880" y="2514600"/>
            <a:ext cx="7178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13E"/>
                </a:solidFill>
              </a:rPr>
              <a:t>OnlineCorrector закриває найширший спектр суто українських мовних проблем.</a:t>
            </a:r>
            <a:endParaRPr lang="en-US" sz="1600" dirty="0"/>
          </a:p>
        </p:txBody>
      </p:sp>
      <p:sp>
        <p:nvSpPr>
          <p:cNvPr id="7" name="num_252"/>
          <p:cNvSpPr txBox="1"/>
          <p:nvPr/>
        </p:nvSpPr>
        <p:spPr>
          <a:xfrm>
            <a:off x="548640" y="34290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_253"/>
          <p:cNvSpPr txBox="1"/>
          <p:nvPr/>
        </p:nvSpPr>
        <p:spPr>
          <a:xfrm>
            <a:off x="1325880" y="3429000"/>
            <a:ext cx="7178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13E"/>
                </a:solidFill>
              </a:rPr>
              <a:t>Сильна сторона — суржик, милозвучність і типографіка; слабка — контекст і зміст.</a:t>
            </a:r>
            <a:endParaRPr lang="en-US" sz="1600" dirty="0"/>
          </a:p>
        </p:txBody>
      </p:sp>
      <p:sp>
        <p:nvSpPr>
          <p:cNvPr id="9" name="num_254"/>
          <p:cNvSpPr txBox="1"/>
          <p:nvPr/>
        </p:nvSpPr>
        <p:spPr>
          <a:xfrm>
            <a:off x="548640" y="43434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0" name="t_255"/>
          <p:cNvSpPr txBox="1"/>
          <p:nvPr/>
        </p:nvSpPr>
        <p:spPr>
          <a:xfrm>
            <a:off x="1325880" y="4343400"/>
            <a:ext cx="7178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13E"/>
                </a:solidFill>
              </a:rPr>
              <a:t>Оптимальна модель роботи: машина фільтрує, людина вирішує.</a:t>
            </a:r>
            <a:endParaRPr lang="en-US" sz="1600" dirty="0"/>
          </a:p>
        </p:txBody>
      </p:sp>
      <p:sp>
        <p:nvSpPr>
          <p:cNvPr id="11" name="num_256"/>
          <p:cNvSpPr txBox="1"/>
          <p:nvPr/>
        </p:nvSpPr>
        <p:spPr>
          <a:xfrm>
            <a:off x="548640" y="5257800"/>
            <a:ext cx="685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_257"/>
          <p:cNvSpPr txBox="1"/>
          <p:nvPr/>
        </p:nvSpPr>
        <p:spPr>
          <a:xfrm>
            <a:off x="1325880" y="5257800"/>
            <a:ext cx="7178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213E"/>
                </a:solidFill>
              </a:rPr>
              <a:t>Цифрова грамотність сьогодні — складник професійної компетентності редактора.</a:t>
            </a:r>
            <a:endParaRPr lang="en-US" sz="1600" dirty="0"/>
          </a:p>
        </p:txBody>
      </p:sp>
      <p:sp>
        <p:nvSpPr>
          <p:cNvPr id="13" name="final_258"/>
          <p:cNvSpPr/>
          <p:nvPr/>
        </p:nvSpPr>
        <p:spPr>
          <a:xfrm>
            <a:off x="8686800" y="1600200"/>
            <a:ext cx="2926080" cy="3886200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/>
        </p:spPr>
      </p:sp>
      <p:sp>
        <p:nvSpPr>
          <p:cNvPr id="14" name="t_259"/>
          <p:cNvSpPr txBox="1"/>
          <p:nvPr/>
        </p:nvSpPr>
        <p:spPr>
          <a:xfrm>
            <a:off x="8961120" y="21031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Машина фільтрує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людина вирішує</a:t>
            </a:r>
            <a:endParaRPr lang="en-US" sz="2000" dirty="0"/>
          </a:p>
        </p:txBody>
      </p:sp>
      <p:sp>
        <p:nvSpPr>
          <p:cNvPr id="15" name="t_260"/>
          <p:cNvSpPr txBox="1"/>
          <p:nvPr/>
        </p:nvSpPr>
        <p:spPr>
          <a:xfrm>
            <a:off x="8961120" y="3931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3EA"/>
                </a:solidFill>
              </a:rPr>
              <a:t>Автоматизація змінює не роль редактора, а розподіл його часу.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Джерела</a:t>
            </a:r>
            <a:endParaRPr lang="en-US" sz="3200" dirty="0"/>
          </a:p>
        </p:txBody>
      </p:sp>
      <p:sp>
        <p:nvSpPr>
          <p:cNvPr id="3" name="src_261"/>
          <p:cNvSpPr/>
          <p:nvPr/>
        </p:nvSpPr>
        <p:spPr>
          <a:xfrm>
            <a:off x="548640" y="160020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EEF2FA"/>
          </a:solidFill>
          <a:ln/>
        </p:spPr>
      </p:sp>
      <p:sp>
        <p:nvSpPr>
          <p:cNvPr id="4" name="dot_262"/>
          <p:cNvSpPr/>
          <p:nvPr/>
        </p:nvSpPr>
        <p:spPr>
          <a:xfrm>
            <a:off x="822960" y="1874520"/>
            <a:ext cx="182880" cy="18288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5" name="t_263"/>
          <p:cNvSpPr txBox="1"/>
          <p:nvPr/>
        </p:nvSpPr>
        <p:spPr>
          <a:xfrm>
            <a:off x="1188720" y="16002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</a:rPr>
              <a:t>OnlineCorrector</a:t>
            </a:r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</a:rPr>
              <a:t>   onlinecorrector.com.ua — сервіс перевірки українських текстів</a:t>
            </a:r>
            <a:endParaRPr lang="en-US" sz="1400" dirty="0"/>
          </a:p>
        </p:txBody>
      </p:sp>
      <p:sp>
        <p:nvSpPr>
          <p:cNvPr id="6" name="src_264"/>
          <p:cNvSpPr/>
          <p:nvPr/>
        </p:nvSpPr>
        <p:spPr>
          <a:xfrm>
            <a:off x="548640" y="242316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7" name="dot_265"/>
          <p:cNvSpPr/>
          <p:nvPr/>
        </p:nvSpPr>
        <p:spPr>
          <a:xfrm>
            <a:off x="822960" y="2697480"/>
            <a:ext cx="182880" cy="18288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8" name="t_266"/>
          <p:cNvSpPr txBox="1"/>
          <p:nvPr/>
        </p:nvSpPr>
        <p:spPr>
          <a:xfrm>
            <a:off x="1188720" y="24231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</a:rPr>
              <a:t>Словник української мови у 20 томах</a:t>
            </a:r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</a:rPr>
              <a:t>   sum20ua.com</a:t>
            </a:r>
            <a:endParaRPr lang="en-US" sz="1400" dirty="0"/>
          </a:p>
        </p:txBody>
      </p:sp>
      <p:sp>
        <p:nvSpPr>
          <p:cNvPr id="9" name="src_267"/>
          <p:cNvSpPr/>
          <p:nvPr/>
        </p:nvSpPr>
        <p:spPr>
          <a:xfrm>
            <a:off x="548640" y="32461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EEF2FA"/>
          </a:solidFill>
          <a:ln/>
        </p:spPr>
      </p:sp>
      <p:sp>
        <p:nvSpPr>
          <p:cNvPr id="10" name="dot_268"/>
          <p:cNvSpPr/>
          <p:nvPr/>
        </p:nvSpPr>
        <p:spPr>
          <a:xfrm>
            <a:off x="822960" y="3520440"/>
            <a:ext cx="182880" cy="18288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1" name="t_269"/>
          <p:cNvSpPr txBox="1"/>
          <p:nvPr/>
        </p:nvSpPr>
        <p:spPr>
          <a:xfrm>
            <a:off x="1188720" y="3246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</a:rPr>
              <a:t>Словники України online</a:t>
            </a:r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</a:rPr>
              <a:t>   lcorp.ulif.org.ua</a:t>
            </a:r>
            <a:endParaRPr lang="en-US" sz="1400" dirty="0"/>
          </a:p>
        </p:txBody>
      </p:sp>
      <p:sp>
        <p:nvSpPr>
          <p:cNvPr id="12" name="src_270"/>
          <p:cNvSpPr/>
          <p:nvPr/>
        </p:nvSpPr>
        <p:spPr>
          <a:xfrm>
            <a:off x="548640" y="406908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3" name="dot_271"/>
          <p:cNvSpPr/>
          <p:nvPr/>
        </p:nvSpPr>
        <p:spPr>
          <a:xfrm>
            <a:off x="822960" y="4343400"/>
            <a:ext cx="182880" cy="18288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4" name="t_272"/>
          <p:cNvSpPr txBox="1"/>
          <p:nvPr/>
        </p:nvSpPr>
        <p:spPr>
          <a:xfrm>
            <a:off x="1188720" y="4069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</a:rPr>
              <a:t>LanguageTool</a:t>
            </a:r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</a:rPr>
              <a:t>   languagetool.org — багатомовний сервіс перевірки</a:t>
            </a:r>
            <a:endParaRPr lang="en-US" sz="1400" dirty="0"/>
          </a:p>
        </p:txBody>
      </p:sp>
      <p:sp>
        <p:nvSpPr>
          <p:cNvPr id="15" name="src_273"/>
          <p:cNvSpPr/>
          <p:nvPr/>
        </p:nvSpPr>
        <p:spPr>
          <a:xfrm>
            <a:off x="548640" y="489204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EEF2FA"/>
          </a:solidFill>
          <a:ln/>
        </p:spPr>
      </p:sp>
      <p:sp>
        <p:nvSpPr>
          <p:cNvPr id="16" name="dot_274"/>
          <p:cNvSpPr/>
          <p:nvPr/>
        </p:nvSpPr>
        <p:spPr>
          <a:xfrm>
            <a:off x="822960" y="5166360"/>
            <a:ext cx="182880" cy="182880"/>
          </a:xfrm>
          <a:prstGeom prst="ellipse">
            <a:avLst/>
          </a:prstGeom>
          <a:solidFill>
            <a:srgbClr val="2F6FB5"/>
          </a:solidFill>
          <a:ln/>
        </p:spPr>
      </p:sp>
      <p:sp>
        <p:nvSpPr>
          <p:cNvPr id="17" name="t_275"/>
          <p:cNvSpPr txBox="1"/>
          <p:nvPr/>
        </p:nvSpPr>
        <p:spPr>
          <a:xfrm>
            <a:off x="1188720" y="48920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3E"/>
                </a:solidFill>
              </a:rPr>
              <a:t>Стаття «14 безкоштовних онлайн-сервісів для роботи»</a:t>
            </a:r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</a:rPr>
              <a:t>   learnlifelong.net</a:t>
            </a:r>
            <a:endParaRPr lang="en-US" sz="1400" dirty="0"/>
          </a:p>
        </p:txBody>
      </p:sp>
      <p:sp>
        <p:nvSpPr>
          <p:cNvPr id="18" name="t_276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</a:rPr>
              <a:t>Доповніть перелік власними джерелами, якими користувалися під час підготовки.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27648"/>
            <a:ext cx="457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_277"/>
          <p:cNvSpPr/>
          <p:nvPr/>
        </p:nvSpPr>
        <p:spPr>
          <a:xfrm>
            <a:off x="-914400" y="4206240"/>
            <a:ext cx="3840480" cy="3840480"/>
          </a:xfrm>
          <a:prstGeom prst="ellipse">
            <a:avLst/>
          </a:prstGeom>
          <a:solidFill>
            <a:srgbClr val="2F6FB5">
              <a:alpha val="25000"/>
            </a:srgbClr>
          </a:solidFill>
          <a:ln/>
        </p:spPr>
      </p:sp>
      <p:sp>
        <p:nvSpPr>
          <p:cNvPr id="3" name="deco_278"/>
          <p:cNvSpPr/>
          <p:nvPr/>
        </p:nvSpPr>
        <p:spPr>
          <a:xfrm>
            <a:off x="10241280" y="-914400"/>
            <a:ext cx="3108960" cy="3108960"/>
          </a:xfrm>
          <a:prstGeom prst="ellipse">
            <a:avLst/>
          </a:prstGeom>
          <a:solidFill>
            <a:srgbClr val="E58B2B">
              <a:alpha val="25000"/>
            </a:srgbClr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24688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Дякую за увагу!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74904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E58B2B"/>
                </a:solidFill>
              </a:rPr>
              <a:t>Запитання?</a:t>
            </a:r>
            <a:endParaRPr lang="en-US" sz="16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C7D3EA"/>
                </a:solidFill>
              </a:rPr>
              <a:t>[ПІБ доповідача] · [група] · [контакт]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aktor Navy">
  <a:themeElements>
    <a:clrScheme name="Redaktor Navy">
      <a:dk1>
        <a:srgbClr val="16213E"/>
      </a:dk1>
      <a:lt1>
        <a:srgbClr val="FFFFFF"/>
      </a:lt1>
      <a:dk2>
        <a:srgbClr val="1E2761"/>
      </a:dk2>
      <a:lt2>
        <a:srgbClr val="EEF2FA"/>
      </a:lt2>
      <a:accent1>
        <a:srgbClr val="1E2761"/>
      </a:accent1>
      <a:accent2>
        <a:srgbClr val="2F6FB5"/>
      </a:accent2>
      <a:accent3>
        <a:srgbClr val="E58B2B"/>
      </a:accent3>
      <a:accent4>
        <a:srgbClr val="2E9E6B"/>
      </a:accent4>
      <a:accent5>
        <a:srgbClr val="C0392B"/>
      </a:accent5>
      <a:accent6>
        <a:srgbClr val="6B7A90"/>
      </a:accent6>
      <a:hlink>
        <a:srgbClr val="2F6FB5"/>
      </a:hlink>
      <a:folHlink>
        <a:srgbClr val="6B7A90"/>
      </a:folHlink>
    </a:clrScheme>
    <a:fontScheme name="Redaktor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Informatsiini resursy (na dopomohu redaktorovi)</dc:title>
  <dc:subject>Analiz onlain-servisu OnlineCorrector</dc:subject>
  <dc:creator>Praktychne zavdannia 3</dc:creator>
  <cp:lastModifiedBy>Praktychne zavdannia 3</cp:lastModifiedBy>
  <cp:revision>1</cp:revision>
  <dcterms:created xsi:type="dcterms:W3CDTF">2026-10-14T12:53:10Z</dcterms:created>
  <dcterms:modified xsi:type="dcterms:W3CDTF">2026-10-14T12:53:10Z</dcterms:modified>
</cp:coreProperties>
</file>